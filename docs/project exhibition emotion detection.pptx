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2" y="4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dora" userId="a11da71d48806187" providerId="LiveId" clId="{9F187FC7-9DF2-44ED-92B4-6F4DE642C5F4}"/>
    <pc:docChg chg="modSld">
      <pc:chgData name="ashutosh dora" userId="a11da71d48806187" providerId="LiveId" clId="{9F187FC7-9DF2-44ED-92B4-6F4DE642C5F4}" dt="2025-09-15T13:03:03.337" v="76" actId="20577"/>
      <pc:docMkLst>
        <pc:docMk/>
      </pc:docMkLst>
      <pc:sldChg chg="addSp modSp mod">
        <pc:chgData name="ashutosh dora" userId="a11da71d48806187" providerId="LiveId" clId="{9F187FC7-9DF2-44ED-92B4-6F4DE642C5F4}" dt="2025-09-15T13:03:03.337" v="76" actId="20577"/>
        <pc:sldMkLst>
          <pc:docMk/>
          <pc:sldMk cId="0" sldId="256"/>
        </pc:sldMkLst>
        <pc:spChg chg="mod">
          <ac:chgData name="ashutosh dora" userId="a11da71d48806187" providerId="LiveId" clId="{9F187FC7-9DF2-44ED-92B4-6F4DE642C5F4}" dt="2025-09-15T13:03:03.337" v="76" actId="20577"/>
          <ac:spMkLst>
            <pc:docMk/>
            <pc:sldMk cId="0" sldId="256"/>
            <ac:spMk id="32" creationId="{00000000-0000-0000-0000-000000000000}"/>
          </ac:spMkLst>
        </pc:spChg>
        <pc:picChg chg="add mod">
          <ac:chgData name="ashutosh dora" userId="a11da71d48806187" providerId="LiveId" clId="{9F187FC7-9DF2-44ED-92B4-6F4DE642C5F4}" dt="2025-09-11T06:49:17.136" v="12" actId="14100"/>
          <ac:picMkLst>
            <pc:docMk/>
            <pc:sldMk cId="0" sldId="256"/>
            <ac:picMk id="3" creationId="{30EAF01F-F8B7-CA1C-4E77-96451A746760}"/>
          </ac:picMkLst>
        </pc:picChg>
      </pc:sldChg>
      <pc:sldChg chg="addSp modSp mod">
        <pc:chgData name="ashutosh dora" userId="a11da71d48806187" providerId="LiveId" clId="{9F187FC7-9DF2-44ED-92B4-6F4DE642C5F4}" dt="2025-09-11T06:49:26.121" v="17" actId="1076"/>
        <pc:sldMkLst>
          <pc:docMk/>
          <pc:sldMk cId="0" sldId="257"/>
        </pc:sldMkLst>
        <pc:picChg chg="add mod">
          <ac:chgData name="ashutosh dora" userId="a11da71d48806187" providerId="LiveId" clId="{9F187FC7-9DF2-44ED-92B4-6F4DE642C5F4}" dt="2025-09-11T06:49:26.121" v="17" actId="1076"/>
          <ac:picMkLst>
            <pc:docMk/>
            <pc:sldMk cId="0" sldId="257"/>
            <ac:picMk id="7" creationId="{AFA7D86B-9D84-910D-6981-635EA3728DA9}"/>
          </ac:picMkLst>
        </pc:picChg>
      </pc:sldChg>
      <pc:sldChg chg="addSp modSp mod">
        <pc:chgData name="ashutosh dora" userId="a11da71d48806187" providerId="LiveId" clId="{9F187FC7-9DF2-44ED-92B4-6F4DE642C5F4}" dt="2025-09-11T06:49:33.095" v="22" actId="1076"/>
        <pc:sldMkLst>
          <pc:docMk/>
          <pc:sldMk cId="0" sldId="258"/>
        </pc:sldMkLst>
        <pc:picChg chg="add mod">
          <ac:chgData name="ashutosh dora" userId="a11da71d48806187" providerId="LiveId" clId="{9F187FC7-9DF2-44ED-92B4-6F4DE642C5F4}" dt="2025-09-11T06:49:33.095" v="22" actId="1076"/>
          <ac:picMkLst>
            <pc:docMk/>
            <pc:sldMk cId="0" sldId="258"/>
            <ac:picMk id="17" creationId="{E0BDE88B-D63E-4F35-DAC1-6D38AC69C5D6}"/>
          </ac:picMkLst>
        </pc:picChg>
      </pc:sldChg>
      <pc:sldChg chg="addSp modSp mod">
        <pc:chgData name="ashutosh dora" userId="a11da71d48806187" providerId="LiveId" clId="{9F187FC7-9DF2-44ED-92B4-6F4DE642C5F4}" dt="2025-09-11T06:49:39.167" v="27" actId="1076"/>
        <pc:sldMkLst>
          <pc:docMk/>
          <pc:sldMk cId="0" sldId="259"/>
        </pc:sldMkLst>
        <pc:picChg chg="add mod">
          <ac:chgData name="ashutosh dora" userId="a11da71d48806187" providerId="LiveId" clId="{9F187FC7-9DF2-44ED-92B4-6F4DE642C5F4}" dt="2025-09-11T06:49:39.167" v="27" actId="1076"/>
          <ac:picMkLst>
            <pc:docMk/>
            <pc:sldMk cId="0" sldId="259"/>
            <ac:picMk id="14" creationId="{DBD944B8-FC21-9F09-8BCE-5B7C936F1D0F}"/>
          </ac:picMkLst>
        </pc:picChg>
      </pc:sldChg>
      <pc:sldChg chg="addSp modSp mod">
        <pc:chgData name="ashutosh dora" userId="a11da71d48806187" providerId="LiveId" clId="{9F187FC7-9DF2-44ED-92B4-6F4DE642C5F4}" dt="2025-09-11T06:49:45.496" v="32" actId="1076"/>
        <pc:sldMkLst>
          <pc:docMk/>
          <pc:sldMk cId="0" sldId="260"/>
        </pc:sldMkLst>
        <pc:picChg chg="add mod">
          <ac:chgData name="ashutosh dora" userId="a11da71d48806187" providerId="LiveId" clId="{9F187FC7-9DF2-44ED-92B4-6F4DE642C5F4}" dt="2025-09-11T06:49:45.496" v="32" actId="1076"/>
          <ac:picMkLst>
            <pc:docMk/>
            <pc:sldMk cId="0" sldId="260"/>
            <ac:picMk id="9" creationId="{787CF054-C62D-554D-091A-FD1574EF3D9D}"/>
          </ac:picMkLst>
        </pc:picChg>
      </pc:sldChg>
      <pc:sldChg chg="addSp modSp mod">
        <pc:chgData name="ashutosh dora" userId="a11da71d48806187" providerId="LiveId" clId="{9F187FC7-9DF2-44ED-92B4-6F4DE642C5F4}" dt="2025-09-11T06:49:53.135" v="37" actId="1076"/>
        <pc:sldMkLst>
          <pc:docMk/>
          <pc:sldMk cId="0" sldId="261"/>
        </pc:sldMkLst>
        <pc:picChg chg="add mod">
          <ac:chgData name="ashutosh dora" userId="a11da71d48806187" providerId="LiveId" clId="{9F187FC7-9DF2-44ED-92B4-6F4DE642C5F4}" dt="2025-09-11T06:49:53.135" v="37" actId="1076"/>
          <ac:picMkLst>
            <pc:docMk/>
            <pc:sldMk cId="0" sldId="261"/>
            <ac:picMk id="19" creationId="{881A3A97-929C-C2F3-6324-1774C49EE07B}"/>
          </ac:picMkLst>
        </pc:picChg>
      </pc:sldChg>
      <pc:sldChg chg="addSp modSp mod">
        <pc:chgData name="ashutosh dora" userId="a11da71d48806187" providerId="LiveId" clId="{9F187FC7-9DF2-44ED-92B4-6F4DE642C5F4}" dt="2025-09-11T06:49:59.025" v="42" actId="1076"/>
        <pc:sldMkLst>
          <pc:docMk/>
          <pc:sldMk cId="0" sldId="262"/>
        </pc:sldMkLst>
        <pc:picChg chg="add mod">
          <ac:chgData name="ashutosh dora" userId="a11da71d48806187" providerId="LiveId" clId="{9F187FC7-9DF2-44ED-92B4-6F4DE642C5F4}" dt="2025-09-11T06:49:59.025" v="42" actId="1076"/>
          <ac:picMkLst>
            <pc:docMk/>
            <pc:sldMk cId="0" sldId="262"/>
            <ac:picMk id="14" creationId="{3FF35C97-AD2E-2803-F057-877F46A8CD59}"/>
          </ac:picMkLst>
        </pc:picChg>
      </pc:sldChg>
      <pc:sldChg chg="addSp modSp mod">
        <pc:chgData name="ashutosh dora" userId="a11da71d48806187" providerId="LiveId" clId="{9F187FC7-9DF2-44ED-92B4-6F4DE642C5F4}" dt="2025-09-11T06:50:09.272" v="47" actId="1076"/>
        <pc:sldMkLst>
          <pc:docMk/>
          <pc:sldMk cId="0" sldId="263"/>
        </pc:sldMkLst>
        <pc:picChg chg="add mod">
          <ac:chgData name="ashutosh dora" userId="a11da71d48806187" providerId="LiveId" clId="{9F187FC7-9DF2-44ED-92B4-6F4DE642C5F4}" dt="2025-09-11T06:50:09.272" v="47" actId="1076"/>
          <ac:picMkLst>
            <pc:docMk/>
            <pc:sldMk cId="0" sldId="263"/>
            <ac:picMk id="22" creationId="{5F000ACF-22F7-DD3E-1A2C-133F4012BF3C}"/>
          </ac:picMkLst>
        </pc:picChg>
      </pc:sldChg>
      <pc:sldChg chg="addSp modSp mod">
        <pc:chgData name="ashutosh dora" userId="a11da71d48806187" providerId="LiveId" clId="{9F187FC7-9DF2-44ED-92B4-6F4DE642C5F4}" dt="2025-09-11T06:50:29.895" v="54" actId="1076"/>
        <pc:sldMkLst>
          <pc:docMk/>
          <pc:sldMk cId="0" sldId="264"/>
        </pc:sldMkLst>
        <pc:picChg chg="add mod">
          <ac:chgData name="ashutosh dora" userId="a11da71d48806187" providerId="LiveId" clId="{9F187FC7-9DF2-44ED-92B4-6F4DE642C5F4}" dt="2025-09-11T06:50:29.895" v="54" actId="1076"/>
          <ac:picMkLst>
            <pc:docMk/>
            <pc:sldMk cId="0" sldId="264"/>
            <ac:picMk id="11" creationId="{9AABDD6B-1D6B-5EFE-DAF4-EB556A39B7E6}"/>
          </ac:picMkLst>
        </pc:picChg>
      </pc:sldChg>
      <pc:sldChg chg="addSp modSp mod">
        <pc:chgData name="ashutosh dora" userId="a11da71d48806187" providerId="LiveId" clId="{9F187FC7-9DF2-44ED-92B4-6F4DE642C5F4}" dt="2025-09-11T06:50:37.139" v="59" actId="1076"/>
        <pc:sldMkLst>
          <pc:docMk/>
          <pc:sldMk cId="0" sldId="265"/>
        </pc:sldMkLst>
        <pc:picChg chg="add mod">
          <ac:chgData name="ashutosh dora" userId="a11da71d48806187" providerId="LiveId" clId="{9F187FC7-9DF2-44ED-92B4-6F4DE642C5F4}" dt="2025-09-11T06:50:37.139" v="59" actId="1076"/>
          <ac:picMkLst>
            <pc:docMk/>
            <pc:sldMk cId="0" sldId="265"/>
            <ac:picMk id="15" creationId="{1F1E5E2E-C6EA-A27B-4DA4-BED56C24FF7B}"/>
          </ac:picMkLst>
        </pc:picChg>
      </pc:sldChg>
      <pc:sldChg chg="addSp modSp mod">
        <pc:chgData name="ashutosh dora" userId="a11da71d48806187" providerId="LiveId" clId="{9F187FC7-9DF2-44ED-92B4-6F4DE642C5F4}" dt="2025-09-11T06:50:48.656" v="64" actId="1076"/>
        <pc:sldMkLst>
          <pc:docMk/>
          <pc:sldMk cId="0" sldId="266"/>
        </pc:sldMkLst>
        <pc:picChg chg="add mod">
          <ac:chgData name="ashutosh dora" userId="a11da71d48806187" providerId="LiveId" clId="{9F187FC7-9DF2-44ED-92B4-6F4DE642C5F4}" dt="2025-09-11T06:50:48.656" v="64" actId="1076"/>
          <ac:picMkLst>
            <pc:docMk/>
            <pc:sldMk cId="0" sldId="266"/>
            <ac:picMk id="27" creationId="{7D791521-D7C4-2C61-C606-3D4061F844E0}"/>
          </ac:picMkLst>
        </pc:picChg>
      </pc:sldChg>
      <pc:sldChg chg="addSp modSp mod">
        <pc:chgData name="ashutosh dora" userId="a11da71d48806187" providerId="LiveId" clId="{9F187FC7-9DF2-44ED-92B4-6F4DE642C5F4}" dt="2025-09-11T06:50:56.639" v="69" actId="1076"/>
        <pc:sldMkLst>
          <pc:docMk/>
          <pc:sldMk cId="0" sldId="267"/>
        </pc:sldMkLst>
        <pc:picChg chg="add mod">
          <ac:chgData name="ashutosh dora" userId="a11da71d48806187" providerId="LiveId" clId="{9F187FC7-9DF2-44ED-92B4-6F4DE642C5F4}" dt="2025-09-11T06:50:56.639" v="69" actId="1076"/>
          <ac:picMkLst>
            <pc:docMk/>
            <pc:sldMk cId="0" sldId="267"/>
            <ac:picMk id="18" creationId="{658B78BE-6751-AFCB-756B-CCC941813624}"/>
          </ac:picMkLst>
        </pc:picChg>
      </pc:sldChg>
      <pc:sldChg chg="addSp modSp mod">
        <pc:chgData name="ashutosh dora" userId="a11da71d48806187" providerId="LiveId" clId="{9F187FC7-9DF2-44ED-92B4-6F4DE642C5F4}" dt="2025-09-11T06:51:03.492" v="74" actId="1076"/>
        <pc:sldMkLst>
          <pc:docMk/>
          <pc:sldMk cId="0" sldId="268"/>
        </pc:sldMkLst>
        <pc:picChg chg="add mod">
          <ac:chgData name="ashutosh dora" userId="a11da71d48806187" providerId="LiveId" clId="{9F187FC7-9DF2-44ED-92B4-6F4DE642C5F4}" dt="2025-09-11T06:51:03.492" v="74" actId="1076"/>
          <ac:picMkLst>
            <pc:docMk/>
            <pc:sldMk cId="0" sldId="268"/>
            <ac:picMk id="17" creationId="{87D0EBE1-4903-8967-0B06-8DD6813BF703}"/>
          </ac:picMkLst>
        </pc:picChg>
      </pc:sldChg>
      <pc:sldChg chg="addSp modSp mod">
        <pc:chgData name="ashutosh dora" userId="a11da71d48806187" providerId="LiveId" clId="{9F187FC7-9DF2-44ED-92B4-6F4DE642C5F4}" dt="2025-09-11T06:49:00.648" v="5" actId="14100"/>
        <pc:sldMkLst>
          <pc:docMk/>
          <pc:sldMk cId="0" sldId="269"/>
        </pc:sldMkLst>
        <pc:picChg chg="add mod">
          <ac:chgData name="ashutosh dora" userId="a11da71d48806187" providerId="LiveId" clId="{9F187FC7-9DF2-44ED-92B4-6F4DE642C5F4}" dt="2025-09-11T06:49:00.648" v="5" actId="14100"/>
          <ac:picMkLst>
            <pc:docMk/>
            <pc:sldMk cId="0" sldId="269"/>
            <ac:picMk id="18" creationId="{3D986D94-4C40-6A73-1C01-7011AB69B32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698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395307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296865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1690685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337237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10C17"/>
          </a:solidFill>
          <a:ln/>
        </p:spPr>
      </p:sp>
      <p:sp>
        <p:nvSpPr>
          <p:cNvPr id="3" name="Shape 1"/>
          <p:cNvSpPr/>
          <p:nvPr/>
        </p:nvSpPr>
        <p:spPr>
          <a:xfrm>
            <a:off x="0" y="0"/>
            <a:ext cx="14630400" cy="8229600"/>
          </a:xfrm>
          <a:prstGeom prst="rect">
            <a:avLst/>
          </a:prstGeom>
          <a:solidFill>
            <a:srgbClr val="241631"/>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extLst>
      <p:ext uri="{BB962C8B-B14F-4D97-AF65-F5344CB8AC3E}">
        <p14:creationId xmlns:p14="http://schemas.microsoft.com/office/powerpoint/2010/main" val="2534658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pic>
        <p:nvPicPr>
          <p:cNvPr id="28" name="Google Shape;28;p1" descr="preencoded.png"/>
          <p:cNvPicPr preferRelativeResize="0"/>
          <p:nvPr/>
        </p:nvPicPr>
        <p:blipFill rotWithShape="1">
          <a:blip r:embed="rId3">
            <a:alphaModFix/>
          </a:blip>
          <a:srcRect/>
          <a:stretch/>
        </p:blipFill>
        <p:spPr>
          <a:xfrm>
            <a:off x="0" y="0"/>
            <a:ext cx="5486400" cy="8229600"/>
          </a:xfrm>
          <a:prstGeom prst="rect">
            <a:avLst/>
          </a:prstGeom>
          <a:noFill/>
          <a:ln>
            <a:noFill/>
          </a:ln>
        </p:spPr>
      </p:pic>
      <p:sp>
        <p:nvSpPr>
          <p:cNvPr id="29" name="Google Shape;29;p1"/>
          <p:cNvSpPr/>
          <p:nvPr/>
        </p:nvSpPr>
        <p:spPr>
          <a:xfrm>
            <a:off x="6280190" y="2581751"/>
            <a:ext cx="4961700" cy="620100"/>
          </a:xfrm>
          <a:prstGeom prst="rect">
            <a:avLst/>
          </a:prstGeom>
          <a:noFill/>
          <a:ln>
            <a:noFill/>
          </a:ln>
        </p:spPr>
        <p:txBody>
          <a:bodyPr spcFirstLastPara="1" wrap="square" lIns="0" tIns="0" rIns="0" bIns="0" anchor="t" anchorCtr="0">
            <a:noAutofit/>
          </a:bodyPr>
          <a:lstStyle/>
          <a:p>
            <a:pPr marL="0" marR="0" lvl="0" indent="0" algn="l" rtl="0">
              <a:lnSpc>
                <a:spcPct val="124359"/>
              </a:lnSpc>
              <a:spcBef>
                <a:spcPts val="0"/>
              </a:spcBef>
              <a:spcAft>
                <a:spcPts val="0"/>
              </a:spcAft>
              <a:buClr>
                <a:srgbClr val="F94CAF"/>
              </a:buClr>
              <a:buSzPts val="3900"/>
              <a:buFont typeface="Inconsolata"/>
              <a:buNone/>
            </a:pPr>
            <a:r>
              <a:rPr lang="en-US" sz="3900" b="1" i="0" u="none" strike="noStrike" cap="none">
                <a:solidFill>
                  <a:srgbClr val="F94CAF"/>
                </a:solidFill>
                <a:latin typeface="Inconsolata"/>
                <a:ea typeface="Inconsolata"/>
                <a:cs typeface="Inconsolata"/>
                <a:sym typeface="Inconsolata"/>
              </a:rPr>
              <a:t>Emotion Detection</a:t>
            </a:r>
            <a:endParaRPr sz="3900" b="0" i="0" u="none" strike="noStrike" cap="none">
              <a:solidFill>
                <a:schemeClr val="dk1"/>
              </a:solidFill>
              <a:latin typeface="Calibri"/>
              <a:ea typeface="Calibri"/>
              <a:cs typeface="Calibri"/>
              <a:sym typeface="Calibri"/>
            </a:endParaRPr>
          </a:p>
        </p:txBody>
      </p:sp>
      <p:sp>
        <p:nvSpPr>
          <p:cNvPr id="30" name="Google Shape;30;p1"/>
          <p:cNvSpPr/>
          <p:nvPr/>
        </p:nvSpPr>
        <p:spPr>
          <a:xfrm>
            <a:off x="6280190" y="3499485"/>
            <a:ext cx="7556400" cy="992400"/>
          </a:xfrm>
          <a:prstGeom prst="rect">
            <a:avLst/>
          </a:prstGeom>
          <a:noFill/>
          <a:ln>
            <a:noFill/>
          </a:ln>
        </p:spPr>
        <p:txBody>
          <a:bodyPr spcFirstLastPara="1" wrap="square" lIns="0" tIns="0" rIns="0" bIns="0" anchor="t" anchorCtr="0">
            <a:noAutofit/>
          </a:bodyPr>
          <a:lstStyle/>
          <a:p>
            <a:pPr marL="0" marR="0" lvl="0" indent="0" algn="l" rtl="0">
              <a:lnSpc>
                <a:spcPct val="125806"/>
              </a:lnSpc>
              <a:spcBef>
                <a:spcPts val="0"/>
              </a:spcBef>
              <a:spcAft>
                <a:spcPts val="0"/>
              </a:spcAft>
              <a:buClr>
                <a:srgbClr val="F94CAF"/>
              </a:buClr>
              <a:buSzPts val="3100"/>
              <a:buFont typeface="Inconsolata"/>
              <a:buNone/>
            </a:pPr>
            <a:r>
              <a:rPr lang="en-US" sz="3100" b="1" i="0" u="none" strike="noStrike" cap="none">
                <a:solidFill>
                  <a:srgbClr val="F94CAF"/>
                </a:solidFill>
                <a:latin typeface="Inconsolata"/>
                <a:ea typeface="Inconsolata"/>
                <a:cs typeface="Inconsolata"/>
                <a:sym typeface="Inconsolata"/>
              </a:rPr>
              <a:t>Real-Time Emotion Recognition using CNN, OpenCV &amp; Twilio</a:t>
            </a:r>
            <a:endParaRPr sz="3100" b="0" i="0" u="none" strike="noStrike" cap="none">
              <a:solidFill>
                <a:schemeClr val="dk1"/>
              </a:solidFill>
              <a:latin typeface="Calibri"/>
              <a:ea typeface="Calibri"/>
              <a:cs typeface="Calibri"/>
              <a:sym typeface="Calibri"/>
            </a:endParaRPr>
          </a:p>
        </p:txBody>
      </p:sp>
      <p:sp>
        <p:nvSpPr>
          <p:cNvPr id="31" name="Google Shape;31;p1"/>
          <p:cNvSpPr/>
          <p:nvPr/>
        </p:nvSpPr>
        <p:spPr>
          <a:xfrm>
            <a:off x="6280190" y="4789408"/>
            <a:ext cx="7556400" cy="3174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DAD1E6"/>
              </a:buClr>
              <a:buSzPts val="1550"/>
              <a:buFont typeface="Fira Sans"/>
              <a:buNone/>
            </a:pPr>
            <a:r>
              <a:rPr lang="en-US" sz="1550" b="0" i="0" u="none" strike="noStrike" cap="none">
                <a:solidFill>
                  <a:srgbClr val="DAD1E6"/>
                </a:solidFill>
                <a:latin typeface="Fira Sans"/>
                <a:ea typeface="Fira Sans"/>
                <a:cs typeface="Fira Sans"/>
                <a:sym typeface="Fira Sans"/>
              </a:rPr>
              <a:t>VIT Bhopal University</a:t>
            </a:r>
            <a:endParaRPr sz="1550" b="0" i="0" u="none" strike="noStrike" cap="none">
              <a:solidFill>
                <a:schemeClr val="dk1"/>
              </a:solidFill>
              <a:latin typeface="Calibri"/>
              <a:ea typeface="Calibri"/>
              <a:cs typeface="Calibri"/>
              <a:sym typeface="Calibri"/>
            </a:endParaRPr>
          </a:p>
        </p:txBody>
      </p:sp>
      <p:sp>
        <p:nvSpPr>
          <p:cNvPr id="32" name="Google Shape;32;p1"/>
          <p:cNvSpPr/>
          <p:nvPr/>
        </p:nvSpPr>
        <p:spPr>
          <a:xfrm>
            <a:off x="6280200" y="5330244"/>
            <a:ext cx="7556400" cy="1714800"/>
          </a:xfrm>
          <a:prstGeom prst="rect">
            <a:avLst/>
          </a:prstGeom>
          <a:noFill/>
          <a:ln>
            <a:noFill/>
          </a:ln>
        </p:spPr>
        <p:txBody>
          <a:bodyPr spcFirstLastPara="1" wrap="square" lIns="0" tIns="0" rIns="0" bIns="0" anchor="t" anchorCtr="0">
            <a:noAutofit/>
          </a:bodyPr>
          <a:lstStyle/>
          <a:p>
            <a:pPr marL="0" marR="0" lvl="0" indent="0" algn="l" rtl="0">
              <a:lnSpc>
                <a:spcPct val="161290"/>
              </a:lnSpc>
              <a:spcBef>
                <a:spcPts val="0"/>
              </a:spcBef>
              <a:spcAft>
                <a:spcPts val="0"/>
              </a:spcAft>
              <a:buClr>
                <a:srgbClr val="DAD1E6"/>
              </a:buClr>
              <a:buSzPts val="1550"/>
              <a:buFont typeface="Fira Sans"/>
              <a:buNone/>
            </a:pPr>
            <a:r>
              <a:rPr lang="en-US" sz="1550" dirty="0" err="1">
                <a:solidFill>
                  <a:srgbClr val="DAD1E6"/>
                </a:solidFill>
                <a:latin typeface="Fira Sans"/>
                <a:ea typeface="Fira Sans"/>
                <a:cs typeface="Fira Sans"/>
                <a:sym typeface="Fira Sans"/>
              </a:rPr>
              <a:t>Kiranjeet</a:t>
            </a:r>
            <a:r>
              <a:rPr lang="en-US" sz="1550" dirty="0">
                <a:solidFill>
                  <a:srgbClr val="DAD1E6"/>
                </a:solidFill>
                <a:latin typeface="Fira Sans"/>
                <a:ea typeface="Fira Sans"/>
                <a:cs typeface="Fira Sans"/>
                <a:sym typeface="Fira Sans"/>
              </a:rPr>
              <a:t> Mishra - 24BAI10127 </a:t>
            </a:r>
            <a:endParaRPr sz="1550" dirty="0">
              <a:solidFill>
                <a:srgbClr val="DAD1E6"/>
              </a:solidFill>
              <a:latin typeface="Fira Sans"/>
              <a:ea typeface="Fira Sans"/>
              <a:cs typeface="Fira Sans"/>
              <a:sym typeface="Fira Sans"/>
            </a:endParaRPr>
          </a:p>
          <a:p>
            <a:pPr marL="0" marR="0" lvl="0" indent="0" algn="l" rtl="0">
              <a:lnSpc>
                <a:spcPct val="161290"/>
              </a:lnSpc>
              <a:spcBef>
                <a:spcPts val="0"/>
              </a:spcBef>
              <a:spcAft>
                <a:spcPts val="0"/>
              </a:spcAft>
              <a:buClr>
                <a:srgbClr val="DAD1E6"/>
              </a:buClr>
              <a:buSzPts val="1550"/>
              <a:buFont typeface="Fira Sans"/>
              <a:buNone/>
            </a:pPr>
            <a:r>
              <a:rPr lang="en-US" sz="1550" dirty="0">
                <a:solidFill>
                  <a:srgbClr val="DAD1E6"/>
                </a:solidFill>
                <a:latin typeface="Fira Sans"/>
                <a:ea typeface="Fira Sans"/>
                <a:cs typeface="Fira Sans"/>
                <a:sym typeface="Fira Sans"/>
              </a:rPr>
              <a:t>Kushagra Yadav - 24BAI10536</a:t>
            </a:r>
            <a:endParaRPr sz="1550" dirty="0">
              <a:solidFill>
                <a:srgbClr val="DAD1E6"/>
              </a:solidFill>
              <a:latin typeface="Fira Sans"/>
              <a:ea typeface="Fira Sans"/>
              <a:cs typeface="Fira Sans"/>
              <a:sym typeface="Fira Sans"/>
            </a:endParaRPr>
          </a:p>
          <a:p>
            <a:pPr marL="0" marR="0" lvl="0" indent="0" algn="l" rtl="0">
              <a:lnSpc>
                <a:spcPct val="161290"/>
              </a:lnSpc>
              <a:spcBef>
                <a:spcPts val="0"/>
              </a:spcBef>
              <a:spcAft>
                <a:spcPts val="0"/>
              </a:spcAft>
              <a:buClr>
                <a:srgbClr val="DAD1E6"/>
              </a:buClr>
              <a:buSzPts val="1550"/>
              <a:buFont typeface="Fira Sans"/>
              <a:buNone/>
            </a:pPr>
            <a:r>
              <a:rPr lang="en-US" sz="1550" dirty="0">
                <a:solidFill>
                  <a:srgbClr val="DAD1E6"/>
                </a:solidFill>
                <a:latin typeface="Fira Sans"/>
                <a:ea typeface="Fira Sans"/>
                <a:cs typeface="Fira Sans"/>
                <a:sym typeface="Fira Sans"/>
              </a:rPr>
              <a:t>Ashutosh Dora - 24BAI10916</a:t>
            </a:r>
            <a:endParaRPr sz="1550" dirty="0">
              <a:solidFill>
                <a:srgbClr val="DAD1E6"/>
              </a:solidFill>
              <a:latin typeface="Fira Sans"/>
              <a:ea typeface="Fira Sans"/>
              <a:cs typeface="Fira Sans"/>
              <a:sym typeface="Fira Sans"/>
            </a:endParaRPr>
          </a:p>
          <a:p>
            <a:pPr marL="0" marR="0" lvl="0" indent="0" algn="l" rtl="0">
              <a:lnSpc>
                <a:spcPct val="161290"/>
              </a:lnSpc>
              <a:spcBef>
                <a:spcPts val="0"/>
              </a:spcBef>
              <a:spcAft>
                <a:spcPts val="0"/>
              </a:spcAft>
              <a:buClr>
                <a:srgbClr val="DAD1E6"/>
              </a:buClr>
              <a:buSzPts val="1550"/>
              <a:buFont typeface="Fira Sans"/>
              <a:buNone/>
            </a:pPr>
            <a:r>
              <a:rPr lang="en-US" sz="1550" dirty="0">
                <a:solidFill>
                  <a:srgbClr val="DAD1E6"/>
                </a:solidFill>
                <a:latin typeface="Fira Sans"/>
                <a:ea typeface="Fira Sans"/>
                <a:cs typeface="Fira Sans"/>
                <a:sym typeface="Fira Sans"/>
              </a:rPr>
              <a:t>Prakhar Gupta - 24BAI10868</a:t>
            </a:r>
            <a:endParaRPr sz="1550" dirty="0">
              <a:solidFill>
                <a:srgbClr val="DAD1E6"/>
              </a:solidFill>
              <a:latin typeface="Fira Sans"/>
              <a:ea typeface="Fira Sans"/>
              <a:cs typeface="Fira Sans"/>
              <a:sym typeface="Fira Sans"/>
            </a:endParaRPr>
          </a:p>
          <a:p>
            <a:pPr marL="0" marR="0" lvl="0" indent="0" algn="l" rtl="0">
              <a:lnSpc>
                <a:spcPct val="161290"/>
              </a:lnSpc>
              <a:spcBef>
                <a:spcPts val="0"/>
              </a:spcBef>
              <a:spcAft>
                <a:spcPts val="0"/>
              </a:spcAft>
              <a:buClr>
                <a:srgbClr val="DAD1E6"/>
              </a:buClr>
              <a:buSzPts val="1550"/>
              <a:buFont typeface="Fira Sans"/>
              <a:buNone/>
            </a:pPr>
            <a:r>
              <a:rPr lang="en-US" sz="1550" dirty="0">
                <a:solidFill>
                  <a:srgbClr val="DAD1E6"/>
                </a:solidFill>
                <a:latin typeface="Fira Sans"/>
                <a:ea typeface="Fira Sans"/>
                <a:cs typeface="Fira Sans"/>
                <a:sym typeface="Fira Sans"/>
              </a:rPr>
              <a:t>Aditya Pradeep </a:t>
            </a:r>
            <a:r>
              <a:rPr lang="en-US" sz="1550" dirty="0" err="1">
                <a:solidFill>
                  <a:srgbClr val="DAD1E6"/>
                </a:solidFill>
                <a:latin typeface="Fira Sans"/>
                <a:ea typeface="Fira Sans"/>
                <a:cs typeface="Fira Sans"/>
                <a:sym typeface="Fira Sans"/>
              </a:rPr>
              <a:t>Khod</a:t>
            </a:r>
            <a:r>
              <a:rPr lang="en-US" sz="1550" dirty="0">
                <a:solidFill>
                  <a:srgbClr val="DAD1E6"/>
                </a:solidFill>
                <a:latin typeface="Fira Sans"/>
                <a:ea typeface="Fira Sans"/>
                <a:cs typeface="Fira Sans"/>
                <a:sym typeface="Fira Sans"/>
              </a:rPr>
              <a:t> - 24BAI10366</a:t>
            </a:r>
            <a:endParaRPr sz="1550" dirty="0">
              <a:solidFill>
                <a:srgbClr val="DAD1E6"/>
              </a:solidFill>
              <a:latin typeface="Fira Sans"/>
              <a:ea typeface="Fira Sans"/>
              <a:cs typeface="Fira Sans"/>
              <a:sym typeface="Fira Sans"/>
            </a:endParaRPr>
          </a:p>
          <a:p>
            <a:pPr marL="0" marR="0" lvl="0" indent="0" algn="l" rtl="0">
              <a:lnSpc>
                <a:spcPct val="161290"/>
              </a:lnSpc>
              <a:spcBef>
                <a:spcPts val="0"/>
              </a:spcBef>
              <a:spcAft>
                <a:spcPts val="0"/>
              </a:spcAft>
              <a:buClr>
                <a:srgbClr val="DAD1E6"/>
              </a:buClr>
              <a:buSzPts val="1550"/>
              <a:buFont typeface="Fira Sans"/>
              <a:buNone/>
            </a:pPr>
            <a:endParaRPr sz="1550" dirty="0">
              <a:solidFill>
                <a:srgbClr val="DAD1E6"/>
              </a:solidFill>
              <a:latin typeface="Fira Sans"/>
              <a:ea typeface="Fira Sans"/>
              <a:cs typeface="Fira Sans"/>
              <a:sym typeface="Fira Sans"/>
            </a:endParaRPr>
          </a:p>
        </p:txBody>
      </p:sp>
      <p:pic>
        <p:nvPicPr>
          <p:cNvPr id="3" name="Picture 2" descr="A close-up of a logo&#10;&#10;AI-generated content may be incorrect.">
            <a:extLst>
              <a:ext uri="{FF2B5EF4-FFF2-40B4-BE49-F238E27FC236}">
                <a16:creationId xmlns:a16="http://schemas.microsoft.com/office/drawing/2014/main" id="{30EAF01F-F8B7-CA1C-4E77-96451A746760}"/>
              </a:ext>
            </a:extLst>
          </p:cNvPr>
          <p:cNvPicPr>
            <a:picLocks noChangeAspect="1"/>
          </p:cNvPicPr>
          <p:nvPr/>
        </p:nvPicPr>
        <p:blipFill>
          <a:blip r:embed="rId4"/>
          <a:stretch>
            <a:fillRect/>
          </a:stretch>
        </p:blipFill>
        <p:spPr>
          <a:xfrm>
            <a:off x="12682550" y="7238886"/>
            <a:ext cx="1947849" cy="992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49614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Introduction</a:t>
            </a:r>
            <a:endParaRPr lang="en-US" sz="1950" dirty="0"/>
          </a:p>
        </p:txBody>
      </p:sp>
      <p:sp>
        <p:nvSpPr>
          <p:cNvPr id="3" name="Text 1"/>
          <p:cNvSpPr/>
          <p:nvPr/>
        </p:nvSpPr>
        <p:spPr>
          <a:xfrm>
            <a:off x="793790" y="3004661"/>
            <a:ext cx="9674662"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Bridging AI with Emotional Intelligence</a:t>
            </a:r>
            <a:endParaRPr lang="en-US" sz="3900" dirty="0"/>
          </a:p>
        </p:txBody>
      </p:sp>
      <p:sp>
        <p:nvSpPr>
          <p:cNvPr id="4" name="Text 2"/>
          <p:cNvSpPr/>
          <p:nvPr/>
        </p:nvSpPr>
        <p:spPr>
          <a:xfrm>
            <a:off x="793790" y="3922395"/>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Emotion detection systems are at the forefront of human-computer interaction, enabling machines to understand and respond to human emotional states. This interdisciplinary field leverages advanced AI techniques to perceive and interpret non-verbal cues, facilitating more natural and empathetic interactions.</a:t>
            </a:r>
            <a:endParaRPr lang="en-US" sz="1550" dirty="0"/>
          </a:p>
        </p:txBody>
      </p:sp>
      <p:sp>
        <p:nvSpPr>
          <p:cNvPr id="5" name="Text 3"/>
          <p:cNvSpPr/>
          <p:nvPr/>
        </p:nvSpPr>
        <p:spPr>
          <a:xfrm>
            <a:off x="793790" y="509825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Beyond enhancing user experience, these systems offer transformative applications across various sectors, including personalized healthcare, adaptive educational platforms, and empathetic customer support, paving the way for a new era of intelligent systems.</a:t>
            </a:r>
            <a:endParaRPr lang="en-US" sz="1550" dirty="0"/>
          </a:p>
        </p:txBody>
      </p:sp>
      <p:pic>
        <p:nvPicPr>
          <p:cNvPr id="7" name="Picture 6" descr="A close-up of a logo&#10;&#10;AI-generated content may be incorrect.">
            <a:extLst>
              <a:ext uri="{FF2B5EF4-FFF2-40B4-BE49-F238E27FC236}">
                <a16:creationId xmlns:a16="http://schemas.microsoft.com/office/drawing/2014/main" id="{AFA7D86B-9D84-910D-6981-635EA3728DA9}"/>
              </a:ext>
            </a:extLst>
          </p:cNvPr>
          <p:cNvPicPr>
            <a:picLocks noChangeAspect="1"/>
          </p:cNvPicPr>
          <p:nvPr/>
        </p:nvPicPr>
        <p:blipFill>
          <a:blip r:embed="rId3"/>
          <a:stretch>
            <a:fillRect/>
          </a:stretch>
        </p:blipFill>
        <p:spPr>
          <a:xfrm>
            <a:off x="12494950" y="7141620"/>
            <a:ext cx="2135450" cy="10879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96177"/>
            <a:ext cx="4092178"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Challenges in Emotion Recognition</a:t>
            </a:r>
            <a:endParaRPr lang="en-US" sz="1950" dirty="0"/>
          </a:p>
        </p:txBody>
      </p:sp>
      <p:sp>
        <p:nvSpPr>
          <p:cNvPr id="3" name="Text 1"/>
          <p:cNvSpPr/>
          <p:nvPr/>
        </p:nvSpPr>
        <p:spPr>
          <a:xfrm>
            <a:off x="793790" y="2304693"/>
            <a:ext cx="8434388"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Addressing Real-World Complexities</a:t>
            </a:r>
            <a:endParaRPr lang="en-US" sz="3900" dirty="0"/>
          </a:p>
        </p:txBody>
      </p:sp>
      <p:sp>
        <p:nvSpPr>
          <p:cNvPr id="4" name="Shape 2"/>
          <p:cNvSpPr/>
          <p:nvPr/>
        </p:nvSpPr>
        <p:spPr>
          <a:xfrm>
            <a:off x="793790" y="3222427"/>
            <a:ext cx="4215289" cy="3210877"/>
          </a:xfrm>
          <a:prstGeom prst="roundRect">
            <a:avLst>
              <a:gd name="adj" fmla="val 3417"/>
            </a:avLst>
          </a:prstGeom>
          <a:solidFill>
            <a:srgbClr val="241631"/>
          </a:solidFill>
          <a:ln w="22860">
            <a:solidFill>
              <a:srgbClr val="5C4E69"/>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770930" y="3222427"/>
            <a:ext cx="91440" cy="3210877"/>
          </a:xfrm>
          <a:prstGeom prst="rect">
            <a:avLst/>
          </a:prstGeom>
        </p:spPr>
      </p:pic>
      <p:sp>
        <p:nvSpPr>
          <p:cNvPr id="6" name="Text 3"/>
          <p:cNvSpPr/>
          <p:nvPr/>
        </p:nvSpPr>
        <p:spPr>
          <a:xfrm>
            <a:off x="1083588" y="3443645"/>
            <a:ext cx="3704273" cy="744141"/>
          </a:xfrm>
          <a:prstGeom prst="rect">
            <a:avLst/>
          </a:prstGeom>
          <a:noFill/>
          <a:ln/>
        </p:spPr>
        <p:txBody>
          <a:bodyPr wrap="squar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Accuracy &amp; Generalization</a:t>
            </a:r>
            <a:endParaRPr lang="en-US" sz="2300" dirty="0"/>
          </a:p>
        </p:txBody>
      </p:sp>
      <p:sp>
        <p:nvSpPr>
          <p:cNvPr id="7" name="Text 4"/>
          <p:cNvSpPr/>
          <p:nvPr/>
        </p:nvSpPr>
        <p:spPr>
          <a:xfrm>
            <a:off x="1083588" y="4306848"/>
            <a:ext cx="3704273" cy="190523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Current systems frequently struggle with real-time accuracy and generalizing across diverse demographics and cultural expressions, leading to biased or inconsistent results in varied environments.</a:t>
            </a:r>
            <a:endParaRPr lang="en-US" sz="1550" dirty="0"/>
          </a:p>
        </p:txBody>
      </p:sp>
      <p:sp>
        <p:nvSpPr>
          <p:cNvPr id="8" name="Shape 5"/>
          <p:cNvSpPr/>
          <p:nvPr/>
        </p:nvSpPr>
        <p:spPr>
          <a:xfrm>
            <a:off x="5207437" y="3222427"/>
            <a:ext cx="4215408" cy="3210877"/>
          </a:xfrm>
          <a:prstGeom prst="roundRect">
            <a:avLst>
              <a:gd name="adj" fmla="val 3417"/>
            </a:avLst>
          </a:prstGeom>
          <a:solidFill>
            <a:srgbClr val="241631"/>
          </a:solidFill>
          <a:ln w="22860">
            <a:solidFill>
              <a:srgbClr val="5C4E69"/>
            </a:solidFill>
            <a:prstDash val="solid"/>
          </a:ln>
        </p:spPr>
        <p:txBody>
          <a:bodyPr/>
          <a:lstStyle/>
          <a:p>
            <a:endParaRPr lang="en-IN"/>
          </a:p>
        </p:txBody>
      </p:sp>
      <p:pic>
        <p:nvPicPr>
          <p:cNvPr id="9" name="Image 1" descr="preencoded.png"/>
          <p:cNvPicPr>
            <a:picLocks noChangeAspect="1"/>
          </p:cNvPicPr>
          <p:nvPr/>
        </p:nvPicPr>
        <p:blipFill>
          <a:blip r:embed="rId3"/>
          <a:stretch>
            <a:fillRect/>
          </a:stretch>
        </p:blipFill>
        <p:spPr>
          <a:xfrm>
            <a:off x="5184577" y="3222427"/>
            <a:ext cx="91440" cy="3210877"/>
          </a:xfrm>
          <a:prstGeom prst="rect">
            <a:avLst/>
          </a:prstGeom>
        </p:spPr>
      </p:pic>
      <p:sp>
        <p:nvSpPr>
          <p:cNvPr id="10" name="Text 6"/>
          <p:cNvSpPr/>
          <p:nvPr/>
        </p:nvSpPr>
        <p:spPr>
          <a:xfrm>
            <a:off x="5497235" y="344364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Cultural Nuances</a:t>
            </a:r>
            <a:endParaRPr lang="en-US" sz="2300" dirty="0"/>
          </a:p>
        </p:txBody>
      </p:sp>
      <p:sp>
        <p:nvSpPr>
          <p:cNvPr id="11" name="Text 7"/>
          <p:cNvSpPr/>
          <p:nvPr/>
        </p:nvSpPr>
        <p:spPr>
          <a:xfrm>
            <a:off x="5497235" y="3934778"/>
            <a:ext cx="3704392" cy="222277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Emotion manifests differently across cultures, posing a significant challenge for models trained on limited datasets. Capturing these subtle variations requires extensive, diverse training data and sophisticated algorithmic approaches.</a:t>
            </a:r>
            <a:endParaRPr lang="en-US" sz="1550" dirty="0"/>
          </a:p>
        </p:txBody>
      </p:sp>
      <p:sp>
        <p:nvSpPr>
          <p:cNvPr id="12" name="Shape 8"/>
          <p:cNvSpPr/>
          <p:nvPr/>
        </p:nvSpPr>
        <p:spPr>
          <a:xfrm>
            <a:off x="9621203" y="3222427"/>
            <a:ext cx="4215289" cy="3210877"/>
          </a:xfrm>
          <a:prstGeom prst="roundRect">
            <a:avLst>
              <a:gd name="adj" fmla="val 3417"/>
            </a:avLst>
          </a:prstGeom>
          <a:solidFill>
            <a:srgbClr val="241631"/>
          </a:solidFill>
          <a:ln w="22860">
            <a:solidFill>
              <a:srgbClr val="5C4E69"/>
            </a:solidFill>
            <a:prstDash val="solid"/>
          </a:ln>
        </p:spPr>
        <p:txBody>
          <a:bodyPr/>
          <a:lstStyle/>
          <a:p>
            <a:endParaRPr lang="en-IN"/>
          </a:p>
        </p:txBody>
      </p:sp>
      <p:pic>
        <p:nvPicPr>
          <p:cNvPr id="13" name="Image 2" descr="preencoded.png"/>
          <p:cNvPicPr>
            <a:picLocks noChangeAspect="1"/>
          </p:cNvPicPr>
          <p:nvPr/>
        </p:nvPicPr>
        <p:blipFill>
          <a:blip r:embed="rId3"/>
          <a:stretch>
            <a:fillRect/>
          </a:stretch>
        </p:blipFill>
        <p:spPr>
          <a:xfrm>
            <a:off x="9598343" y="3222427"/>
            <a:ext cx="91440" cy="3210877"/>
          </a:xfrm>
          <a:prstGeom prst="rect">
            <a:avLst/>
          </a:prstGeom>
        </p:spPr>
      </p:pic>
      <p:sp>
        <p:nvSpPr>
          <p:cNvPr id="14" name="Text 9"/>
          <p:cNvSpPr/>
          <p:nvPr/>
        </p:nvSpPr>
        <p:spPr>
          <a:xfrm>
            <a:off x="9911001" y="344364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Computational Demand</a:t>
            </a:r>
            <a:endParaRPr lang="en-US" sz="2300" dirty="0"/>
          </a:p>
        </p:txBody>
      </p:sp>
      <p:sp>
        <p:nvSpPr>
          <p:cNvPr id="15" name="Text 10"/>
          <p:cNvSpPr/>
          <p:nvPr/>
        </p:nvSpPr>
        <p:spPr>
          <a:xfrm>
            <a:off x="9911001" y="3934778"/>
            <a:ext cx="3704273" cy="190523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Real-time processing of high-dimensional facial data demands substantial computational resources, limiting deployment on edge devices and in applications requiring low latency.</a:t>
            </a:r>
            <a:endParaRPr lang="en-US" sz="1550" dirty="0"/>
          </a:p>
        </p:txBody>
      </p:sp>
      <p:pic>
        <p:nvPicPr>
          <p:cNvPr id="17" name="Picture 16" descr="A close-up of a logo&#10;&#10;AI-generated content may be incorrect.">
            <a:extLst>
              <a:ext uri="{FF2B5EF4-FFF2-40B4-BE49-F238E27FC236}">
                <a16:creationId xmlns:a16="http://schemas.microsoft.com/office/drawing/2014/main" id="{E0BDE88B-D63E-4F35-DAC1-6D38AC69C5D6}"/>
              </a:ext>
            </a:extLst>
          </p:cNvPr>
          <p:cNvPicPr>
            <a:picLocks noChangeAspect="1"/>
          </p:cNvPicPr>
          <p:nvPr/>
        </p:nvPicPr>
        <p:blipFill>
          <a:blip r:embed="rId4"/>
          <a:stretch>
            <a:fillRect/>
          </a:stretch>
        </p:blipFill>
        <p:spPr>
          <a:xfrm>
            <a:off x="12872792" y="7334125"/>
            <a:ext cx="1757608" cy="8954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1728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Project Goals</a:t>
            </a:r>
            <a:endParaRPr lang="en-US" sz="1950" dirty="0"/>
          </a:p>
        </p:txBody>
      </p:sp>
      <p:sp>
        <p:nvSpPr>
          <p:cNvPr id="3" name="Text 1"/>
          <p:cNvSpPr/>
          <p:nvPr/>
        </p:nvSpPr>
        <p:spPr>
          <a:xfrm>
            <a:off x="793790" y="1625798"/>
            <a:ext cx="893052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Key Objectives for a Robust Solution</a:t>
            </a:r>
            <a:endParaRPr lang="en-US" sz="3900" dirty="0"/>
          </a:p>
        </p:txBody>
      </p:sp>
      <p:pic>
        <p:nvPicPr>
          <p:cNvPr id="4" name="Image 0" descr="preencoded.png"/>
          <p:cNvPicPr>
            <a:picLocks noChangeAspect="1"/>
          </p:cNvPicPr>
          <p:nvPr/>
        </p:nvPicPr>
        <p:blipFill>
          <a:blip r:embed="rId3"/>
          <a:stretch>
            <a:fillRect/>
          </a:stretch>
        </p:blipFill>
        <p:spPr>
          <a:xfrm>
            <a:off x="793790" y="2543532"/>
            <a:ext cx="992267" cy="1522928"/>
          </a:xfrm>
          <a:prstGeom prst="rect">
            <a:avLst/>
          </a:prstGeom>
        </p:spPr>
      </p:pic>
      <p:sp>
        <p:nvSpPr>
          <p:cNvPr id="5" name="Text 2"/>
          <p:cNvSpPr/>
          <p:nvPr/>
        </p:nvSpPr>
        <p:spPr>
          <a:xfrm>
            <a:off x="1984415" y="2741890"/>
            <a:ext cx="3719274" cy="372070"/>
          </a:xfrm>
          <a:prstGeom prst="rect">
            <a:avLst/>
          </a:prstGeom>
          <a:noFill/>
          <a:ln/>
        </p:spPr>
        <p:txBody>
          <a:bodyPr wrap="non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Efficient CNN Development</a:t>
            </a:r>
            <a:endParaRPr lang="en-US" sz="2300" dirty="0"/>
          </a:p>
        </p:txBody>
      </p:sp>
      <p:sp>
        <p:nvSpPr>
          <p:cNvPr id="6" name="Text 3"/>
          <p:cNvSpPr/>
          <p:nvPr/>
        </p:nvSpPr>
        <p:spPr>
          <a:xfrm>
            <a:off x="1984415" y="3233023"/>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To design and implement an efficient Convolutional Neural Network (CNN) architecture optimized for real-time emotion recognition, focusing on minimizing computational overhead while maximizing accuracy.</a:t>
            </a:r>
            <a:endParaRPr lang="en-US" sz="1550" dirty="0"/>
          </a:p>
        </p:txBody>
      </p:sp>
      <p:pic>
        <p:nvPicPr>
          <p:cNvPr id="7" name="Image 1" descr="preencoded.png"/>
          <p:cNvPicPr>
            <a:picLocks noChangeAspect="1"/>
          </p:cNvPicPr>
          <p:nvPr/>
        </p:nvPicPr>
        <p:blipFill>
          <a:blip r:embed="rId4"/>
          <a:stretch>
            <a:fillRect/>
          </a:stretch>
        </p:blipFill>
        <p:spPr>
          <a:xfrm>
            <a:off x="793790" y="4066461"/>
            <a:ext cx="992267" cy="1522928"/>
          </a:xfrm>
          <a:prstGeom prst="rect">
            <a:avLst/>
          </a:prstGeom>
        </p:spPr>
      </p:pic>
      <p:sp>
        <p:nvSpPr>
          <p:cNvPr id="8" name="Text 4"/>
          <p:cNvSpPr/>
          <p:nvPr/>
        </p:nvSpPr>
        <p:spPr>
          <a:xfrm>
            <a:off x="1984415" y="4264819"/>
            <a:ext cx="3570446" cy="372070"/>
          </a:xfrm>
          <a:prstGeom prst="rect">
            <a:avLst/>
          </a:prstGeom>
          <a:noFill/>
          <a:ln/>
        </p:spPr>
        <p:txBody>
          <a:bodyPr wrap="non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Leveraging Key Libraries</a:t>
            </a:r>
            <a:endParaRPr lang="en-US" sz="2300" dirty="0"/>
          </a:p>
        </p:txBody>
      </p:sp>
      <p:sp>
        <p:nvSpPr>
          <p:cNvPr id="9" name="Text 5"/>
          <p:cNvSpPr/>
          <p:nvPr/>
        </p:nvSpPr>
        <p:spPr>
          <a:xfrm>
            <a:off x="1984415" y="4755952"/>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To integrate and utilize powerful libraries such as OpenCV for robust facial detection and preprocessing, and TensorFlow/Keras for building, training, and deploying the deep learning model effectively.</a:t>
            </a:r>
            <a:endParaRPr lang="en-US" sz="1550" dirty="0"/>
          </a:p>
        </p:txBody>
      </p:sp>
      <p:pic>
        <p:nvPicPr>
          <p:cNvPr id="10" name="Image 2" descr="preencoded.png"/>
          <p:cNvPicPr>
            <a:picLocks noChangeAspect="1"/>
          </p:cNvPicPr>
          <p:nvPr/>
        </p:nvPicPr>
        <p:blipFill>
          <a:blip r:embed="rId5"/>
          <a:stretch>
            <a:fillRect/>
          </a:stretch>
        </p:blipFill>
        <p:spPr>
          <a:xfrm>
            <a:off x="793790" y="5589389"/>
            <a:ext cx="992267" cy="1522928"/>
          </a:xfrm>
          <a:prstGeom prst="rect">
            <a:avLst/>
          </a:prstGeom>
        </p:spPr>
      </p:pic>
      <p:sp>
        <p:nvSpPr>
          <p:cNvPr id="11" name="Text 6"/>
          <p:cNvSpPr/>
          <p:nvPr/>
        </p:nvSpPr>
        <p:spPr>
          <a:xfrm>
            <a:off x="1984415" y="5787747"/>
            <a:ext cx="4016812" cy="372070"/>
          </a:xfrm>
          <a:prstGeom prst="rect">
            <a:avLst/>
          </a:prstGeom>
          <a:noFill/>
          <a:ln/>
        </p:spPr>
        <p:txBody>
          <a:bodyPr wrap="non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Real-Time Alert Integration</a:t>
            </a:r>
            <a:endParaRPr lang="en-US" sz="2300" dirty="0"/>
          </a:p>
        </p:txBody>
      </p:sp>
      <p:sp>
        <p:nvSpPr>
          <p:cNvPr id="12" name="Text 7"/>
          <p:cNvSpPr/>
          <p:nvPr/>
        </p:nvSpPr>
        <p:spPr>
          <a:xfrm>
            <a:off x="1984415" y="6278880"/>
            <a:ext cx="11852196"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To seamlessly integrate the Twilio API for delivering real-time alerts or notifications based on detected emotional states, enabling immediate responsiveness in practical applications.</a:t>
            </a:r>
            <a:endParaRPr lang="en-US" sz="1550" dirty="0"/>
          </a:p>
        </p:txBody>
      </p:sp>
      <p:pic>
        <p:nvPicPr>
          <p:cNvPr id="14" name="Picture 13" descr="A close-up of a logo&#10;&#10;AI-generated content may be incorrect.">
            <a:extLst>
              <a:ext uri="{FF2B5EF4-FFF2-40B4-BE49-F238E27FC236}">
                <a16:creationId xmlns:a16="http://schemas.microsoft.com/office/drawing/2014/main" id="{DBD944B8-FC21-9F09-8BCE-5B7C936F1D0F}"/>
              </a:ext>
            </a:extLst>
          </p:cNvPr>
          <p:cNvPicPr>
            <a:picLocks noChangeAspect="1"/>
          </p:cNvPicPr>
          <p:nvPr/>
        </p:nvPicPr>
        <p:blipFill>
          <a:blip r:embed="rId6"/>
          <a:stretch>
            <a:fillRect/>
          </a:stretch>
        </p:blipFill>
        <p:spPr>
          <a:xfrm>
            <a:off x="12427624" y="7107319"/>
            <a:ext cx="2202776" cy="11222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814036"/>
            <a:ext cx="2604135"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Foundational Research</a:t>
            </a:r>
            <a:endParaRPr lang="en-US" sz="1950" dirty="0"/>
          </a:p>
        </p:txBody>
      </p:sp>
      <p:sp>
        <p:nvSpPr>
          <p:cNvPr id="3" name="Text 1"/>
          <p:cNvSpPr/>
          <p:nvPr/>
        </p:nvSpPr>
        <p:spPr>
          <a:xfrm>
            <a:off x="793790" y="2322552"/>
            <a:ext cx="7690128"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Insights from Literature Review</a:t>
            </a:r>
            <a:endParaRPr lang="en-US" sz="3900" dirty="0"/>
          </a:p>
        </p:txBody>
      </p:sp>
      <p:sp>
        <p:nvSpPr>
          <p:cNvPr id="4" name="Text 2"/>
          <p:cNvSpPr/>
          <p:nvPr/>
        </p:nvSpPr>
        <p:spPr>
          <a:xfrm>
            <a:off x="793790" y="3418880"/>
            <a:ext cx="6279356" cy="158769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CNNs in Feature Learning:</a:t>
            </a:r>
            <a:r>
              <a:rPr lang="en-US" sz="1550" dirty="0">
                <a:solidFill>
                  <a:srgbClr val="DAD1E6"/>
                </a:solidFill>
                <a:latin typeface="Fira Sans" pitchFamily="34" charset="0"/>
                <a:ea typeface="Fira Sans" pitchFamily="34" charset="-122"/>
                <a:cs typeface="Fira Sans" pitchFamily="34" charset="-120"/>
              </a:rPr>
              <a:t> Convolutional Neural Networks (CNNs) have proven highly effective in automatically learning spatial hierarchies of features from images, making them ideal for facial expression recognition. Their ability to capture intricate patterns significantly outperforms traditional methods.</a:t>
            </a:r>
            <a:endParaRPr lang="en-US" sz="1550" dirty="0"/>
          </a:p>
        </p:txBody>
      </p:sp>
      <p:sp>
        <p:nvSpPr>
          <p:cNvPr id="5" name="Text 3"/>
          <p:cNvSpPr/>
          <p:nvPr/>
        </p:nvSpPr>
        <p:spPr>
          <a:xfrm>
            <a:off x="793790" y="5075992"/>
            <a:ext cx="6279356" cy="127015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OpenCV for Face Detection:</a:t>
            </a:r>
            <a:r>
              <a:rPr lang="en-US" sz="1550" dirty="0">
                <a:solidFill>
                  <a:srgbClr val="DAD1E6"/>
                </a:solidFill>
                <a:latin typeface="Fira Sans" pitchFamily="34" charset="0"/>
                <a:ea typeface="Fira Sans" pitchFamily="34" charset="-122"/>
                <a:cs typeface="Fira Sans" pitchFamily="34" charset="-120"/>
              </a:rPr>
              <a:t> OpenCV's Haar Cascade classifiers are widely adopted for their speed and accuracy in real-time face detection, serving as a critical preprocessing step for isolating facial regions before emotion analysis.</a:t>
            </a:r>
            <a:endParaRPr lang="en-US" sz="1550" dirty="0"/>
          </a:p>
        </p:txBody>
      </p:sp>
      <p:sp>
        <p:nvSpPr>
          <p:cNvPr id="6" name="Text 4"/>
          <p:cNvSpPr/>
          <p:nvPr/>
        </p:nvSpPr>
        <p:spPr>
          <a:xfrm>
            <a:off x="7564874" y="3418880"/>
            <a:ext cx="6279356" cy="127015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Twilio for Real-Time Communication:</a:t>
            </a:r>
            <a:r>
              <a:rPr lang="en-US" sz="1550" dirty="0">
                <a:solidFill>
                  <a:srgbClr val="DAD1E6"/>
                </a:solidFill>
                <a:latin typeface="Fira Sans" pitchFamily="34" charset="0"/>
                <a:ea typeface="Fira Sans" pitchFamily="34" charset="-122"/>
                <a:cs typeface="Fira Sans" pitchFamily="34" charset="-120"/>
              </a:rPr>
              <a:t> Twilio's robust API platform provides programmatic access to SMS, voice, and video, making it an excellent choice for enabling real-time notifications and alerts based on detected emotions.</a:t>
            </a:r>
            <a:endParaRPr lang="en-US" sz="1550" dirty="0"/>
          </a:p>
        </p:txBody>
      </p:sp>
      <p:sp>
        <p:nvSpPr>
          <p:cNvPr id="7" name="Text 5"/>
          <p:cNvSpPr/>
          <p:nvPr/>
        </p:nvSpPr>
        <p:spPr>
          <a:xfrm>
            <a:off x="7564874" y="4758452"/>
            <a:ext cx="6279356" cy="1587698"/>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Benchmark Datasets:</a:t>
            </a:r>
            <a:r>
              <a:rPr lang="en-US" sz="1550" dirty="0">
                <a:solidFill>
                  <a:srgbClr val="DAD1E6"/>
                </a:solidFill>
                <a:latin typeface="Fira Sans" pitchFamily="34" charset="0"/>
                <a:ea typeface="Fira Sans" pitchFamily="34" charset="-122"/>
                <a:cs typeface="Fira Sans" pitchFamily="34" charset="-120"/>
              </a:rPr>
              <a:t> The FER2013 dataset (Facial Expression Recognition 2013) with its 48x48 grayscale images of various expressions, and the CK+ (Extended Cohn-Kanade) dataset, known for its posed facial expressions, are crucial for training and validating emotion recognition models.</a:t>
            </a:r>
            <a:endParaRPr lang="en-US" sz="1550" dirty="0"/>
          </a:p>
        </p:txBody>
      </p:sp>
      <p:pic>
        <p:nvPicPr>
          <p:cNvPr id="9" name="Picture 8" descr="A close-up of a logo&#10;&#10;AI-generated content may be incorrect.">
            <a:extLst>
              <a:ext uri="{FF2B5EF4-FFF2-40B4-BE49-F238E27FC236}">
                <a16:creationId xmlns:a16="http://schemas.microsoft.com/office/drawing/2014/main" id="{787CF054-C62D-554D-091A-FD1574EF3D9D}"/>
              </a:ext>
            </a:extLst>
          </p:cNvPr>
          <p:cNvPicPr>
            <a:picLocks noChangeAspect="1"/>
          </p:cNvPicPr>
          <p:nvPr/>
        </p:nvPicPr>
        <p:blipFill>
          <a:blip r:embed="rId3"/>
          <a:stretch>
            <a:fillRect/>
          </a:stretch>
        </p:blipFill>
        <p:spPr>
          <a:xfrm>
            <a:off x="12872792" y="7334125"/>
            <a:ext cx="1757608" cy="8954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166217"/>
            <a:ext cx="2976086"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Technical Specifications</a:t>
            </a:r>
            <a:endParaRPr lang="en-US" sz="1950" dirty="0"/>
          </a:p>
        </p:txBody>
      </p:sp>
      <p:sp>
        <p:nvSpPr>
          <p:cNvPr id="3" name="Text 1"/>
          <p:cNvSpPr/>
          <p:nvPr/>
        </p:nvSpPr>
        <p:spPr>
          <a:xfrm>
            <a:off x="793790" y="1674733"/>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System Requirements</a:t>
            </a:r>
            <a:endParaRPr lang="en-US" sz="3900" dirty="0"/>
          </a:p>
        </p:txBody>
      </p:sp>
      <p:sp>
        <p:nvSpPr>
          <p:cNvPr id="4" name="Text 2"/>
          <p:cNvSpPr/>
          <p:nvPr/>
        </p:nvSpPr>
        <p:spPr>
          <a:xfrm>
            <a:off x="793790" y="279082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Hardware</a:t>
            </a:r>
            <a:endParaRPr lang="en-US" sz="2300" dirty="0"/>
          </a:p>
        </p:txBody>
      </p:sp>
      <p:sp>
        <p:nvSpPr>
          <p:cNvPr id="5" name="Text 3"/>
          <p:cNvSpPr/>
          <p:nvPr/>
        </p:nvSpPr>
        <p:spPr>
          <a:xfrm>
            <a:off x="793790" y="3361253"/>
            <a:ext cx="402431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Processor:</a:t>
            </a:r>
            <a:r>
              <a:rPr lang="en-US" sz="1550" dirty="0">
                <a:solidFill>
                  <a:srgbClr val="DAD1E6"/>
                </a:solidFill>
                <a:latin typeface="Fira Sans" pitchFamily="34" charset="0"/>
                <a:ea typeface="Fira Sans" pitchFamily="34" charset="-122"/>
                <a:cs typeface="Fira Sans" pitchFamily="34" charset="-120"/>
              </a:rPr>
              <a:t> Intel Core i7 or AMD Ryzen 7 (or higher)</a:t>
            </a:r>
            <a:endParaRPr lang="en-US" sz="1550" dirty="0"/>
          </a:p>
        </p:txBody>
      </p:sp>
      <p:sp>
        <p:nvSpPr>
          <p:cNvPr id="6" name="Text 4"/>
          <p:cNvSpPr/>
          <p:nvPr/>
        </p:nvSpPr>
        <p:spPr>
          <a:xfrm>
            <a:off x="793790" y="4065746"/>
            <a:ext cx="4024313"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RAM:</a:t>
            </a:r>
            <a:r>
              <a:rPr lang="en-US" sz="1550" dirty="0">
                <a:solidFill>
                  <a:srgbClr val="DAD1E6"/>
                </a:solidFill>
                <a:latin typeface="Fira Sans" pitchFamily="34" charset="0"/>
                <a:ea typeface="Fira Sans" pitchFamily="34" charset="-122"/>
                <a:cs typeface="Fira Sans" pitchFamily="34" charset="-120"/>
              </a:rPr>
              <a:t> 16GB DDR4 (minimum)</a:t>
            </a:r>
            <a:endParaRPr lang="en-US" sz="1550" dirty="0"/>
          </a:p>
        </p:txBody>
      </p:sp>
      <p:sp>
        <p:nvSpPr>
          <p:cNvPr id="7" name="Text 5"/>
          <p:cNvSpPr/>
          <p:nvPr/>
        </p:nvSpPr>
        <p:spPr>
          <a:xfrm>
            <a:off x="793790" y="4452699"/>
            <a:ext cx="4024313"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GPU:</a:t>
            </a:r>
            <a:r>
              <a:rPr lang="en-US" sz="1550" dirty="0">
                <a:solidFill>
                  <a:srgbClr val="DAD1E6"/>
                </a:solidFill>
                <a:latin typeface="Fira Sans" pitchFamily="34" charset="0"/>
                <a:ea typeface="Fira Sans" pitchFamily="34" charset="-122"/>
                <a:cs typeface="Fira Sans" pitchFamily="34" charset="-120"/>
              </a:rPr>
              <a:t> NVIDIA GTX 1080 / RTX 2060 (or equivalent with CUDA support) for accelerated training</a:t>
            </a:r>
            <a:endParaRPr lang="en-US" sz="1550" dirty="0"/>
          </a:p>
        </p:txBody>
      </p:sp>
      <p:sp>
        <p:nvSpPr>
          <p:cNvPr id="8" name="Text 6"/>
          <p:cNvSpPr/>
          <p:nvPr/>
        </p:nvSpPr>
        <p:spPr>
          <a:xfrm>
            <a:off x="793790" y="5474732"/>
            <a:ext cx="402431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Storage:</a:t>
            </a:r>
            <a:r>
              <a:rPr lang="en-US" sz="1550" dirty="0">
                <a:solidFill>
                  <a:srgbClr val="DAD1E6"/>
                </a:solidFill>
                <a:latin typeface="Fira Sans" pitchFamily="34" charset="0"/>
                <a:ea typeface="Fira Sans" pitchFamily="34" charset="-122"/>
                <a:cs typeface="Fira Sans" pitchFamily="34" charset="-120"/>
              </a:rPr>
              <a:t> 256GB SSD (for faster data access)</a:t>
            </a:r>
            <a:endParaRPr lang="en-US" sz="1550" dirty="0"/>
          </a:p>
        </p:txBody>
      </p:sp>
      <p:pic>
        <p:nvPicPr>
          <p:cNvPr id="9" name="Image 0" descr="preencoded.png"/>
          <p:cNvPicPr>
            <a:picLocks noChangeAspect="1"/>
          </p:cNvPicPr>
          <p:nvPr/>
        </p:nvPicPr>
        <p:blipFill>
          <a:blip r:embed="rId3"/>
          <a:stretch>
            <a:fillRect/>
          </a:stretch>
        </p:blipFill>
        <p:spPr>
          <a:xfrm>
            <a:off x="5309830" y="2815709"/>
            <a:ext cx="4024313" cy="4024312"/>
          </a:xfrm>
          <a:prstGeom prst="rect">
            <a:avLst/>
          </a:prstGeom>
        </p:spPr>
      </p:pic>
      <p:sp>
        <p:nvSpPr>
          <p:cNvPr id="10" name="Text 7"/>
          <p:cNvSpPr/>
          <p:nvPr/>
        </p:nvSpPr>
        <p:spPr>
          <a:xfrm>
            <a:off x="9825871" y="279082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Software</a:t>
            </a:r>
            <a:endParaRPr lang="en-US" sz="2300" dirty="0"/>
          </a:p>
        </p:txBody>
      </p:sp>
      <p:sp>
        <p:nvSpPr>
          <p:cNvPr id="11" name="Text 8"/>
          <p:cNvSpPr/>
          <p:nvPr/>
        </p:nvSpPr>
        <p:spPr>
          <a:xfrm>
            <a:off x="9825871" y="3361253"/>
            <a:ext cx="402431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Operating System:</a:t>
            </a:r>
            <a:r>
              <a:rPr lang="en-US" sz="1550" dirty="0">
                <a:solidFill>
                  <a:srgbClr val="DAD1E6"/>
                </a:solidFill>
                <a:latin typeface="Fira Sans" pitchFamily="34" charset="0"/>
                <a:ea typeface="Fira Sans" pitchFamily="34" charset="-122"/>
                <a:cs typeface="Fira Sans" pitchFamily="34" charset="-120"/>
              </a:rPr>
              <a:t> Windows 10/11 (64-bit), Ubuntu 20.04+ LTS</a:t>
            </a:r>
            <a:endParaRPr lang="en-US" sz="1550" dirty="0"/>
          </a:p>
        </p:txBody>
      </p:sp>
      <p:sp>
        <p:nvSpPr>
          <p:cNvPr id="12" name="Text 9"/>
          <p:cNvSpPr/>
          <p:nvPr/>
        </p:nvSpPr>
        <p:spPr>
          <a:xfrm>
            <a:off x="9825871" y="4065746"/>
            <a:ext cx="4024313"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Programming Language:</a:t>
            </a:r>
            <a:r>
              <a:rPr lang="en-US" sz="1550" dirty="0">
                <a:solidFill>
                  <a:srgbClr val="DAD1E6"/>
                </a:solidFill>
                <a:latin typeface="Fira Sans" pitchFamily="34" charset="0"/>
                <a:ea typeface="Fira Sans" pitchFamily="34" charset="-122"/>
                <a:cs typeface="Fira Sans" pitchFamily="34" charset="-120"/>
              </a:rPr>
              <a:t> Python 3.9+</a:t>
            </a:r>
            <a:endParaRPr lang="en-US" sz="1550" dirty="0"/>
          </a:p>
        </p:txBody>
      </p:sp>
      <p:sp>
        <p:nvSpPr>
          <p:cNvPr id="13" name="Text 10"/>
          <p:cNvSpPr/>
          <p:nvPr/>
        </p:nvSpPr>
        <p:spPr>
          <a:xfrm>
            <a:off x="9825871" y="4452699"/>
            <a:ext cx="4024313"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Deep Learning Frameworks:</a:t>
            </a:r>
            <a:r>
              <a:rPr lang="en-US" sz="1550" dirty="0">
                <a:solidFill>
                  <a:srgbClr val="DAD1E6"/>
                </a:solidFill>
                <a:latin typeface="Fira Sans" pitchFamily="34" charset="0"/>
                <a:ea typeface="Fira Sans" pitchFamily="34" charset="-122"/>
                <a:cs typeface="Fira Sans" pitchFamily="34" charset="-120"/>
              </a:rPr>
              <a:t> TensorFlow 2.x, Keras 2.x</a:t>
            </a:r>
            <a:endParaRPr lang="en-US" sz="1550" dirty="0"/>
          </a:p>
        </p:txBody>
      </p:sp>
      <p:sp>
        <p:nvSpPr>
          <p:cNvPr id="14" name="Text 11"/>
          <p:cNvSpPr/>
          <p:nvPr/>
        </p:nvSpPr>
        <p:spPr>
          <a:xfrm>
            <a:off x="9825871" y="5157192"/>
            <a:ext cx="4024313"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Computer Vision Library:</a:t>
            </a:r>
            <a:r>
              <a:rPr lang="en-US" sz="1550" dirty="0">
                <a:solidFill>
                  <a:srgbClr val="DAD1E6"/>
                </a:solidFill>
                <a:latin typeface="Fira Sans" pitchFamily="34" charset="0"/>
                <a:ea typeface="Fira Sans" pitchFamily="34" charset="-122"/>
                <a:cs typeface="Fira Sans" pitchFamily="34" charset="-120"/>
              </a:rPr>
              <a:t> OpenCV 4.x</a:t>
            </a:r>
            <a:endParaRPr lang="en-US" sz="1550" dirty="0"/>
          </a:p>
        </p:txBody>
      </p:sp>
      <p:sp>
        <p:nvSpPr>
          <p:cNvPr id="15" name="Text 12"/>
          <p:cNvSpPr/>
          <p:nvPr/>
        </p:nvSpPr>
        <p:spPr>
          <a:xfrm>
            <a:off x="9825871" y="5544145"/>
            <a:ext cx="4024313"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Data Manipulation:</a:t>
            </a:r>
            <a:r>
              <a:rPr lang="en-US" sz="1550" dirty="0">
                <a:solidFill>
                  <a:srgbClr val="DAD1E6"/>
                </a:solidFill>
                <a:latin typeface="Fira Sans" pitchFamily="34" charset="0"/>
                <a:ea typeface="Fira Sans" pitchFamily="34" charset="-122"/>
                <a:cs typeface="Fira Sans" pitchFamily="34" charset="-120"/>
              </a:rPr>
              <a:t> NumPy, Pandas</a:t>
            </a:r>
            <a:endParaRPr lang="en-US" sz="1550" dirty="0"/>
          </a:p>
        </p:txBody>
      </p:sp>
      <p:sp>
        <p:nvSpPr>
          <p:cNvPr id="16" name="Text 13"/>
          <p:cNvSpPr/>
          <p:nvPr/>
        </p:nvSpPr>
        <p:spPr>
          <a:xfrm>
            <a:off x="9825871" y="5931098"/>
            <a:ext cx="4024313"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Machine Learning:</a:t>
            </a:r>
            <a:r>
              <a:rPr lang="en-US" sz="1550" dirty="0">
                <a:solidFill>
                  <a:srgbClr val="DAD1E6"/>
                </a:solidFill>
                <a:latin typeface="Fira Sans" pitchFamily="34" charset="0"/>
                <a:ea typeface="Fira Sans" pitchFamily="34" charset="-122"/>
                <a:cs typeface="Fira Sans" pitchFamily="34" charset="-120"/>
              </a:rPr>
              <a:t> Scikit-learn</a:t>
            </a:r>
            <a:endParaRPr lang="en-US" sz="1550" dirty="0"/>
          </a:p>
        </p:txBody>
      </p:sp>
      <p:sp>
        <p:nvSpPr>
          <p:cNvPr id="17" name="Text 14"/>
          <p:cNvSpPr/>
          <p:nvPr/>
        </p:nvSpPr>
        <p:spPr>
          <a:xfrm>
            <a:off x="9825871" y="6318052"/>
            <a:ext cx="4024313" cy="317540"/>
          </a:xfrm>
          <a:prstGeom prst="rect">
            <a:avLst/>
          </a:prstGeom>
          <a:noFill/>
          <a:ln/>
        </p:spPr>
        <p:txBody>
          <a:bodyPr wrap="non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Twilio SDK:</a:t>
            </a:r>
            <a:r>
              <a:rPr lang="en-US" sz="1550" dirty="0">
                <a:solidFill>
                  <a:srgbClr val="DAD1E6"/>
                </a:solidFill>
                <a:latin typeface="Fira Sans" pitchFamily="34" charset="0"/>
                <a:ea typeface="Fira Sans" pitchFamily="34" charset="-122"/>
                <a:cs typeface="Fira Sans" pitchFamily="34" charset="-120"/>
              </a:rPr>
              <a:t> Python-Twilio</a:t>
            </a:r>
            <a:endParaRPr lang="en-US" sz="1550" dirty="0"/>
          </a:p>
        </p:txBody>
      </p:sp>
      <p:pic>
        <p:nvPicPr>
          <p:cNvPr id="19" name="Picture 18" descr="A close-up of a logo&#10;&#10;AI-generated content may be incorrect.">
            <a:extLst>
              <a:ext uri="{FF2B5EF4-FFF2-40B4-BE49-F238E27FC236}">
                <a16:creationId xmlns:a16="http://schemas.microsoft.com/office/drawing/2014/main" id="{881A3A97-929C-C2F3-6324-1774C49EE07B}"/>
              </a:ext>
            </a:extLst>
          </p:cNvPr>
          <p:cNvPicPr>
            <a:picLocks noChangeAspect="1"/>
          </p:cNvPicPr>
          <p:nvPr/>
        </p:nvPicPr>
        <p:blipFill>
          <a:blip r:embed="rId4"/>
          <a:stretch>
            <a:fillRect/>
          </a:stretch>
        </p:blipFill>
        <p:spPr>
          <a:xfrm>
            <a:off x="12542180" y="7165683"/>
            <a:ext cx="2088220" cy="10639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449" y="372904"/>
            <a:ext cx="1695093" cy="211931"/>
          </a:xfrm>
          <a:prstGeom prst="rect">
            <a:avLst/>
          </a:prstGeom>
          <a:noFill/>
          <a:ln/>
        </p:spPr>
        <p:txBody>
          <a:bodyPr wrap="none" lIns="0" tIns="0" rIns="0" bIns="0" rtlCol="0" anchor="t"/>
          <a:lstStyle/>
          <a:p>
            <a:pPr marL="0" indent="0" algn="l">
              <a:lnSpc>
                <a:spcPts val="1650"/>
              </a:lnSpc>
              <a:buNone/>
            </a:pPr>
            <a:r>
              <a:rPr lang="en-US" sz="1300" b="1" dirty="0">
                <a:solidFill>
                  <a:srgbClr val="F94CAF"/>
                </a:solidFill>
                <a:latin typeface="Inconsolata Bold" pitchFamily="34" charset="0"/>
                <a:ea typeface="Inconsolata Bold" pitchFamily="34" charset="-122"/>
                <a:cs typeface="Inconsolata Bold" pitchFamily="34" charset="-120"/>
              </a:rPr>
              <a:t>Approach</a:t>
            </a:r>
            <a:endParaRPr lang="en-US" sz="1300" dirty="0"/>
          </a:p>
        </p:txBody>
      </p:sp>
      <p:sp>
        <p:nvSpPr>
          <p:cNvPr id="3" name="Text 1"/>
          <p:cNvSpPr/>
          <p:nvPr/>
        </p:nvSpPr>
        <p:spPr>
          <a:xfrm>
            <a:off x="542449" y="720447"/>
            <a:ext cx="3390305" cy="423863"/>
          </a:xfrm>
          <a:prstGeom prst="rect">
            <a:avLst/>
          </a:prstGeom>
          <a:noFill/>
          <a:ln/>
        </p:spPr>
        <p:txBody>
          <a:bodyPr wrap="none" lIns="0" tIns="0" rIns="0" bIns="0" rtlCol="0" anchor="t"/>
          <a:lstStyle/>
          <a:p>
            <a:pPr marL="0" indent="0" algn="l">
              <a:lnSpc>
                <a:spcPts val="3300"/>
              </a:lnSpc>
              <a:buNone/>
            </a:pPr>
            <a:r>
              <a:rPr lang="en-US" sz="2650" b="1" dirty="0">
                <a:solidFill>
                  <a:srgbClr val="F94CAF"/>
                </a:solidFill>
                <a:latin typeface="Inconsolata Bold" pitchFamily="34" charset="0"/>
                <a:ea typeface="Inconsolata Bold" pitchFamily="34" charset="-122"/>
                <a:cs typeface="Inconsolata Bold" pitchFamily="34" charset="-120"/>
              </a:rPr>
              <a:t>Methodology Overview</a:t>
            </a:r>
            <a:endParaRPr lang="en-US" sz="2650" dirty="0"/>
          </a:p>
        </p:txBody>
      </p:sp>
      <p:sp>
        <p:nvSpPr>
          <p:cNvPr id="4" name="Text 2"/>
          <p:cNvSpPr/>
          <p:nvPr/>
        </p:nvSpPr>
        <p:spPr>
          <a:xfrm>
            <a:off x="542449" y="1347668"/>
            <a:ext cx="13545503" cy="216932"/>
          </a:xfrm>
          <a:prstGeom prst="rect">
            <a:avLst/>
          </a:prstGeom>
          <a:noFill/>
          <a:ln/>
        </p:spPr>
        <p:txBody>
          <a:bodyPr wrap="none" lIns="0" tIns="0" rIns="0" bIns="0" rtlCol="0" anchor="t"/>
          <a:lstStyle/>
          <a:p>
            <a:pPr marL="0" indent="0" algn="l">
              <a:lnSpc>
                <a:spcPts val="1700"/>
              </a:lnSpc>
              <a:buNone/>
            </a:pPr>
            <a:r>
              <a:rPr lang="en-US" sz="1050" dirty="0">
                <a:solidFill>
                  <a:srgbClr val="DAD1E6"/>
                </a:solidFill>
                <a:latin typeface="Fira Sans" pitchFamily="34" charset="0"/>
                <a:ea typeface="Fira Sans" pitchFamily="34" charset="-122"/>
                <a:cs typeface="Fira Sans" pitchFamily="34" charset="-120"/>
              </a:rPr>
              <a:t>Our methodology combines robust data preprocessing with advanced deep learning and real-time communication, ensuring an end-to-end solution for emotion detection.</a:t>
            </a:r>
            <a:endParaRPr lang="en-US" sz="1050" dirty="0"/>
          </a:p>
        </p:txBody>
      </p:sp>
      <p:pic>
        <p:nvPicPr>
          <p:cNvPr id="5" name="Image 0" descr="preencoded.png"/>
          <p:cNvPicPr>
            <a:picLocks noChangeAspect="1"/>
          </p:cNvPicPr>
          <p:nvPr/>
        </p:nvPicPr>
        <p:blipFill>
          <a:blip r:embed="rId3"/>
          <a:stretch>
            <a:fillRect/>
          </a:stretch>
        </p:blipFill>
        <p:spPr>
          <a:xfrm>
            <a:off x="3353991" y="1717119"/>
            <a:ext cx="7922300" cy="7114461"/>
          </a:xfrm>
          <a:prstGeom prst="rect">
            <a:avLst/>
          </a:prstGeom>
        </p:spPr>
      </p:pic>
      <p:sp>
        <p:nvSpPr>
          <p:cNvPr id="6" name="Text 3"/>
          <p:cNvSpPr/>
          <p:nvPr/>
        </p:nvSpPr>
        <p:spPr>
          <a:xfrm>
            <a:off x="3567254" y="3127286"/>
            <a:ext cx="2952891" cy="380964"/>
          </a:xfrm>
          <a:prstGeom prst="rect">
            <a:avLst/>
          </a:prstGeom>
          <a:noFill/>
          <a:ln/>
        </p:spPr>
        <p:txBody>
          <a:bodyPr wrap="none" lIns="0" tIns="0" rIns="0" bIns="0" rtlCol="0" anchor="t"/>
          <a:lstStyle/>
          <a:p>
            <a:pPr marL="0" indent="0" algn="ctr">
              <a:lnSpc>
                <a:spcPts val="1650"/>
              </a:lnSpc>
              <a:buNone/>
            </a:pPr>
            <a:r>
              <a:rPr lang="en-US" sz="1350" b="1" dirty="0">
                <a:solidFill>
                  <a:srgbClr val="DAD1E6"/>
                </a:solidFill>
                <a:latin typeface="Inconsolata Bold" pitchFamily="34" charset="0"/>
                <a:ea typeface="Inconsolata Bold" pitchFamily="34" charset="-122"/>
                <a:cs typeface="Inconsolata Bold" pitchFamily="34" charset="-120"/>
              </a:rPr>
              <a:t>Data Prep</a:t>
            </a:r>
            <a:endParaRPr lang="en-US" sz="1350" dirty="0"/>
          </a:p>
        </p:txBody>
      </p:sp>
      <p:pic>
        <p:nvPicPr>
          <p:cNvPr id="7" name="Image 1" descr="preencoded.png"/>
          <p:cNvPicPr>
            <a:picLocks noChangeAspect="1"/>
          </p:cNvPicPr>
          <p:nvPr/>
        </p:nvPicPr>
        <p:blipFill>
          <a:blip r:embed="rId4"/>
          <a:stretch>
            <a:fillRect/>
          </a:stretch>
        </p:blipFill>
        <p:spPr>
          <a:xfrm>
            <a:off x="4492361" y="4731567"/>
            <a:ext cx="677268" cy="677269"/>
          </a:xfrm>
          <a:prstGeom prst="rect">
            <a:avLst/>
          </a:prstGeom>
        </p:spPr>
      </p:pic>
      <p:sp>
        <p:nvSpPr>
          <p:cNvPr id="8" name="Text 4"/>
          <p:cNvSpPr/>
          <p:nvPr/>
        </p:nvSpPr>
        <p:spPr>
          <a:xfrm>
            <a:off x="5549747" y="7042958"/>
            <a:ext cx="2859978" cy="380963"/>
          </a:xfrm>
          <a:prstGeom prst="rect">
            <a:avLst/>
          </a:prstGeom>
          <a:noFill/>
          <a:ln/>
        </p:spPr>
        <p:txBody>
          <a:bodyPr wrap="none" lIns="0" tIns="0" rIns="0" bIns="0" rtlCol="0" anchor="t"/>
          <a:lstStyle/>
          <a:p>
            <a:pPr marL="0" indent="0" algn="ctr">
              <a:lnSpc>
                <a:spcPts val="1650"/>
              </a:lnSpc>
              <a:buNone/>
            </a:pPr>
            <a:r>
              <a:rPr lang="en-US" sz="1350" b="1" dirty="0">
                <a:solidFill>
                  <a:srgbClr val="DAD1E6"/>
                </a:solidFill>
                <a:latin typeface="Inconsolata Bold" pitchFamily="34" charset="0"/>
                <a:ea typeface="Inconsolata Bold" pitchFamily="34" charset="-122"/>
                <a:cs typeface="Inconsolata Bold" pitchFamily="34" charset="-120"/>
              </a:rPr>
              <a:t>CNN Training</a:t>
            </a:r>
            <a:endParaRPr lang="en-US" sz="1350" dirty="0"/>
          </a:p>
        </p:txBody>
      </p:sp>
      <p:pic>
        <p:nvPicPr>
          <p:cNvPr id="9" name="Image 2" descr="preencoded.png"/>
          <p:cNvPicPr>
            <a:picLocks noChangeAspect="1"/>
          </p:cNvPicPr>
          <p:nvPr/>
        </p:nvPicPr>
        <p:blipFill>
          <a:blip r:embed="rId5"/>
          <a:stretch>
            <a:fillRect/>
          </a:stretch>
        </p:blipFill>
        <p:spPr>
          <a:xfrm>
            <a:off x="6633377" y="5144489"/>
            <a:ext cx="677268" cy="677268"/>
          </a:xfrm>
          <a:prstGeom prst="rect">
            <a:avLst/>
          </a:prstGeom>
        </p:spPr>
      </p:pic>
      <p:sp>
        <p:nvSpPr>
          <p:cNvPr id="10" name="Text 5"/>
          <p:cNvSpPr/>
          <p:nvPr/>
        </p:nvSpPr>
        <p:spPr>
          <a:xfrm>
            <a:off x="8088234" y="3924559"/>
            <a:ext cx="2859979" cy="380964"/>
          </a:xfrm>
          <a:prstGeom prst="rect">
            <a:avLst/>
          </a:prstGeom>
          <a:noFill/>
          <a:ln/>
        </p:spPr>
        <p:txBody>
          <a:bodyPr wrap="none" lIns="0" tIns="0" rIns="0" bIns="0" rtlCol="0" anchor="t"/>
          <a:lstStyle/>
          <a:p>
            <a:pPr marL="0" indent="0" algn="ctr">
              <a:lnSpc>
                <a:spcPts val="1650"/>
              </a:lnSpc>
              <a:buNone/>
            </a:pPr>
            <a:r>
              <a:rPr lang="en-US" sz="1350" b="1" dirty="0">
                <a:solidFill>
                  <a:srgbClr val="DAD1E6"/>
                </a:solidFill>
                <a:latin typeface="Inconsolata Bold" pitchFamily="34" charset="0"/>
                <a:ea typeface="Inconsolata Bold" pitchFamily="34" charset="-122"/>
                <a:cs typeface="Inconsolata Bold" pitchFamily="34" charset="-120"/>
              </a:rPr>
              <a:t>Twilio Alerts</a:t>
            </a:r>
            <a:endParaRPr lang="en-US" sz="1350" dirty="0"/>
          </a:p>
        </p:txBody>
      </p:sp>
      <p:pic>
        <p:nvPicPr>
          <p:cNvPr id="11" name="Image 3" descr="preencoded.png"/>
          <p:cNvPicPr>
            <a:picLocks noChangeAspect="1"/>
          </p:cNvPicPr>
          <p:nvPr/>
        </p:nvPicPr>
        <p:blipFill>
          <a:blip r:embed="rId6"/>
          <a:stretch>
            <a:fillRect/>
          </a:stretch>
        </p:blipFill>
        <p:spPr>
          <a:xfrm>
            <a:off x="8911962" y="5587888"/>
            <a:ext cx="677268" cy="677269"/>
          </a:xfrm>
          <a:prstGeom prst="rect">
            <a:avLst/>
          </a:prstGeom>
        </p:spPr>
      </p:pic>
      <p:sp>
        <p:nvSpPr>
          <p:cNvPr id="12" name="Text 6"/>
          <p:cNvSpPr/>
          <p:nvPr/>
        </p:nvSpPr>
        <p:spPr>
          <a:xfrm>
            <a:off x="542449" y="8984099"/>
            <a:ext cx="13545503" cy="216932"/>
          </a:xfrm>
          <a:prstGeom prst="rect">
            <a:avLst/>
          </a:prstGeom>
          <a:noFill/>
          <a:ln/>
        </p:spPr>
        <p:txBody>
          <a:bodyPr wrap="none" lIns="0" tIns="0" rIns="0" bIns="0" rtlCol="0" anchor="t"/>
          <a:lstStyle/>
          <a:p>
            <a:pPr marL="0" indent="0" algn="l">
              <a:lnSpc>
                <a:spcPts val="1700"/>
              </a:lnSpc>
              <a:buNone/>
            </a:pPr>
            <a:r>
              <a:rPr lang="en-US" sz="1050" dirty="0">
                <a:solidFill>
                  <a:srgbClr val="DAD1E6"/>
                </a:solidFill>
                <a:latin typeface="Fira Sans" pitchFamily="34" charset="0"/>
                <a:ea typeface="Fira Sans" pitchFamily="34" charset="-122"/>
                <a:cs typeface="Fira Sans" pitchFamily="34" charset="-120"/>
              </a:rPr>
              <a:t>Each stage is critical for the system's performance, from preparing the data for optimal model learning to delivering timely insights through automated alerts.</a:t>
            </a:r>
            <a:endParaRPr lang="en-US" sz="1050" dirty="0"/>
          </a:p>
        </p:txBody>
      </p:sp>
      <p:pic>
        <p:nvPicPr>
          <p:cNvPr id="14" name="Picture 13" descr="A close-up of a logo&#10;&#10;AI-generated content may be incorrect.">
            <a:extLst>
              <a:ext uri="{FF2B5EF4-FFF2-40B4-BE49-F238E27FC236}">
                <a16:creationId xmlns:a16="http://schemas.microsoft.com/office/drawing/2014/main" id="{3FF35C97-AD2E-2803-F057-877F46A8CD59}"/>
              </a:ext>
            </a:extLst>
          </p:cNvPr>
          <p:cNvPicPr>
            <a:picLocks noChangeAspect="1"/>
          </p:cNvPicPr>
          <p:nvPr/>
        </p:nvPicPr>
        <p:blipFill>
          <a:blip r:embed="rId7"/>
          <a:stretch>
            <a:fillRect/>
          </a:stretch>
        </p:blipFill>
        <p:spPr>
          <a:xfrm>
            <a:off x="12824666" y="7423921"/>
            <a:ext cx="1889955" cy="96290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6132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Model Design</a:t>
            </a:r>
            <a:endParaRPr lang="en-US" sz="1950" dirty="0"/>
          </a:p>
        </p:txBody>
      </p:sp>
      <p:sp>
        <p:nvSpPr>
          <p:cNvPr id="3" name="Text 1"/>
          <p:cNvSpPr/>
          <p:nvPr/>
        </p:nvSpPr>
        <p:spPr>
          <a:xfrm>
            <a:off x="793790" y="1569839"/>
            <a:ext cx="9922788"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CNN Architecture for Emotion Recognition</a:t>
            </a:r>
            <a:endParaRPr lang="en-US" sz="3900" dirty="0"/>
          </a:p>
        </p:txBody>
      </p:sp>
      <p:sp>
        <p:nvSpPr>
          <p:cNvPr id="4" name="Text 2"/>
          <p:cNvSpPr/>
          <p:nvPr/>
        </p:nvSpPr>
        <p:spPr>
          <a:xfrm>
            <a:off x="793790" y="2487573"/>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Our Convolutional Neural Network (CNN) is specifically designed to efficiently process facial image data for accurate emotion classification.</a:t>
            </a:r>
            <a:endParaRPr lang="en-US" sz="1550" dirty="0"/>
          </a:p>
        </p:txBody>
      </p:sp>
      <p:sp>
        <p:nvSpPr>
          <p:cNvPr id="5" name="Shape 3"/>
          <p:cNvSpPr/>
          <p:nvPr/>
        </p:nvSpPr>
        <p:spPr>
          <a:xfrm>
            <a:off x="793790" y="3028355"/>
            <a:ext cx="13042821" cy="4139922"/>
          </a:xfrm>
          <a:prstGeom prst="roundRect">
            <a:avLst>
              <a:gd name="adj" fmla="val 719"/>
            </a:avLst>
          </a:prstGeom>
          <a:noFill/>
          <a:ln w="7620">
            <a:solidFill>
              <a:srgbClr val="FFFFFF">
                <a:alpha val="24000"/>
              </a:srgbClr>
            </a:solidFill>
            <a:prstDash val="solid"/>
          </a:ln>
        </p:spPr>
        <p:txBody>
          <a:bodyPr/>
          <a:lstStyle/>
          <a:p>
            <a:endParaRPr lang="en-IN"/>
          </a:p>
        </p:txBody>
      </p:sp>
      <p:sp>
        <p:nvSpPr>
          <p:cNvPr id="6" name="Shape 4"/>
          <p:cNvSpPr/>
          <p:nvPr/>
        </p:nvSpPr>
        <p:spPr>
          <a:xfrm>
            <a:off x="801410" y="3035975"/>
            <a:ext cx="13027581" cy="570905"/>
          </a:xfrm>
          <a:prstGeom prst="rect">
            <a:avLst/>
          </a:prstGeom>
          <a:solidFill>
            <a:srgbClr val="FFFFFF">
              <a:alpha val="4000"/>
            </a:srgbClr>
          </a:solidFill>
          <a:ln/>
        </p:spPr>
        <p:txBody>
          <a:bodyPr/>
          <a:lstStyle/>
          <a:p>
            <a:endParaRPr lang="en-IN"/>
          </a:p>
        </p:txBody>
      </p:sp>
      <p:sp>
        <p:nvSpPr>
          <p:cNvPr id="7" name="Text 5"/>
          <p:cNvSpPr/>
          <p:nvPr/>
        </p:nvSpPr>
        <p:spPr>
          <a:xfrm>
            <a:off x="999887" y="3162657"/>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DAD1E6"/>
                </a:solidFill>
                <a:latin typeface="Fira Sans" pitchFamily="34" charset="0"/>
                <a:ea typeface="Fira Sans" pitchFamily="34" charset="-122"/>
                <a:cs typeface="Fira Sans" pitchFamily="34" charset="-120"/>
              </a:rPr>
              <a:t>Input Layer</a:t>
            </a:r>
            <a:endParaRPr lang="en-US" sz="1550" dirty="0"/>
          </a:p>
        </p:txBody>
      </p:sp>
      <p:sp>
        <p:nvSpPr>
          <p:cNvPr id="8" name="Text 6"/>
          <p:cNvSpPr/>
          <p:nvPr/>
        </p:nvSpPr>
        <p:spPr>
          <a:xfrm>
            <a:off x="3609142" y="3162657"/>
            <a:ext cx="1002149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Accepts 48x48 pixel grayscale images, providing a standardized input for the network.</a:t>
            </a:r>
            <a:endParaRPr lang="en-US" sz="1550" dirty="0"/>
          </a:p>
        </p:txBody>
      </p:sp>
      <p:sp>
        <p:nvSpPr>
          <p:cNvPr id="9" name="Shape 7"/>
          <p:cNvSpPr/>
          <p:nvPr/>
        </p:nvSpPr>
        <p:spPr>
          <a:xfrm>
            <a:off x="801410" y="3606879"/>
            <a:ext cx="13027581" cy="888444"/>
          </a:xfrm>
          <a:prstGeom prst="rect">
            <a:avLst/>
          </a:prstGeom>
          <a:solidFill>
            <a:srgbClr val="000000">
              <a:alpha val="4000"/>
            </a:srgbClr>
          </a:solidFill>
          <a:ln/>
        </p:spPr>
        <p:txBody>
          <a:bodyPr/>
          <a:lstStyle/>
          <a:p>
            <a:endParaRPr lang="en-IN"/>
          </a:p>
        </p:txBody>
      </p:sp>
      <p:sp>
        <p:nvSpPr>
          <p:cNvPr id="10" name="Text 8"/>
          <p:cNvSpPr/>
          <p:nvPr/>
        </p:nvSpPr>
        <p:spPr>
          <a:xfrm>
            <a:off x="999887" y="3733562"/>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DAD1E6"/>
                </a:solidFill>
                <a:latin typeface="Fira Sans" pitchFamily="34" charset="0"/>
                <a:ea typeface="Fira Sans" pitchFamily="34" charset="-122"/>
                <a:cs typeface="Fira Sans" pitchFamily="34" charset="-120"/>
              </a:rPr>
              <a:t>Convolutional Blocks</a:t>
            </a:r>
            <a:endParaRPr lang="en-US" sz="1550" dirty="0"/>
          </a:p>
        </p:txBody>
      </p:sp>
      <p:sp>
        <p:nvSpPr>
          <p:cNvPr id="11" name="Text 9"/>
          <p:cNvSpPr/>
          <p:nvPr/>
        </p:nvSpPr>
        <p:spPr>
          <a:xfrm>
            <a:off x="3609142" y="3733562"/>
            <a:ext cx="1002149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Multiple Conv2D layers with ReLU activation for feature extraction, followed by MaxPooling layers for dimensionality reduction and robustness to variations.</a:t>
            </a:r>
            <a:endParaRPr lang="en-US" sz="1550" dirty="0"/>
          </a:p>
        </p:txBody>
      </p:sp>
      <p:sp>
        <p:nvSpPr>
          <p:cNvPr id="12" name="Shape 10"/>
          <p:cNvSpPr/>
          <p:nvPr/>
        </p:nvSpPr>
        <p:spPr>
          <a:xfrm>
            <a:off x="801410" y="4495324"/>
            <a:ext cx="13027581" cy="888444"/>
          </a:xfrm>
          <a:prstGeom prst="rect">
            <a:avLst/>
          </a:prstGeom>
          <a:solidFill>
            <a:srgbClr val="FFFFFF">
              <a:alpha val="4000"/>
            </a:srgbClr>
          </a:solidFill>
          <a:ln/>
        </p:spPr>
        <p:txBody>
          <a:bodyPr/>
          <a:lstStyle/>
          <a:p>
            <a:endParaRPr lang="en-IN"/>
          </a:p>
        </p:txBody>
      </p:sp>
      <p:sp>
        <p:nvSpPr>
          <p:cNvPr id="13" name="Text 11"/>
          <p:cNvSpPr/>
          <p:nvPr/>
        </p:nvSpPr>
        <p:spPr>
          <a:xfrm>
            <a:off x="999887" y="4622006"/>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DAD1E6"/>
                </a:solidFill>
                <a:latin typeface="Fira Sans" pitchFamily="34" charset="0"/>
                <a:ea typeface="Fira Sans" pitchFamily="34" charset="-122"/>
                <a:cs typeface="Fira Sans" pitchFamily="34" charset="-120"/>
              </a:rPr>
              <a:t>Dropout Layers</a:t>
            </a:r>
            <a:endParaRPr lang="en-US" sz="1550" dirty="0"/>
          </a:p>
        </p:txBody>
      </p:sp>
      <p:sp>
        <p:nvSpPr>
          <p:cNvPr id="14" name="Text 12"/>
          <p:cNvSpPr/>
          <p:nvPr/>
        </p:nvSpPr>
        <p:spPr>
          <a:xfrm>
            <a:off x="3609142" y="4622006"/>
            <a:ext cx="1002149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Incorporated after convolutional blocks to prevent overfitting by randomly deactivating a fraction of neurons during training.</a:t>
            </a:r>
            <a:endParaRPr lang="en-US" sz="1550" dirty="0"/>
          </a:p>
        </p:txBody>
      </p:sp>
      <p:sp>
        <p:nvSpPr>
          <p:cNvPr id="15" name="Shape 13"/>
          <p:cNvSpPr/>
          <p:nvPr/>
        </p:nvSpPr>
        <p:spPr>
          <a:xfrm>
            <a:off x="801410" y="5383768"/>
            <a:ext cx="13027581" cy="888444"/>
          </a:xfrm>
          <a:prstGeom prst="rect">
            <a:avLst/>
          </a:prstGeom>
          <a:solidFill>
            <a:srgbClr val="000000">
              <a:alpha val="4000"/>
            </a:srgbClr>
          </a:solidFill>
          <a:ln/>
        </p:spPr>
        <p:txBody>
          <a:bodyPr/>
          <a:lstStyle/>
          <a:p>
            <a:endParaRPr lang="en-IN"/>
          </a:p>
        </p:txBody>
      </p:sp>
      <p:sp>
        <p:nvSpPr>
          <p:cNvPr id="16" name="Text 14"/>
          <p:cNvSpPr/>
          <p:nvPr/>
        </p:nvSpPr>
        <p:spPr>
          <a:xfrm>
            <a:off x="999887" y="5510451"/>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DAD1E6"/>
                </a:solidFill>
                <a:latin typeface="Fira Sans" pitchFamily="34" charset="0"/>
                <a:ea typeface="Fira Sans" pitchFamily="34" charset="-122"/>
                <a:cs typeface="Fira Sans" pitchFamily="34" charset="-120"/>
              </a:rPr>
              <a:t>Dense Layers</a:t>
            </a:r>
            <a:endParaRPr lang="en-US" sz="1550" dirty="0"/>
          </a:p>
        </p:txBody>
      </p:sp>
      <p:sp>
        <p:nvSpPr>
          <p:cNvPr id="17" name="Text 15"/>
          <p:cNvSpPr/>
          <p:nvPr/>
        </p:nvSpPr>
        <p:spPr>
          <a:xfrm>
            <a:off x="3609142" y="5510451"/>
            <a:ext cx="1002149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Fully connected layers for high-level reasoning and classification, transforming extracted features into emotional probabilities.</a:t>
            </a:r>
            <a:endParaRPr lang="en-US" sz="1550" dirty="0"/>
          </a:p>
        </p:txBody>
      </p:sp>
      <p:sp>
        <p:nvSpPr>
          <p:cNvPr id="18" name="Shape 16"/>
          <p:cNvSpPr/>
          <p:nvPr/>
        </p:nvSpPr>
        <p:spPr>
          <a:xfrm>
            <a:off x="801410" y="6272212"/>
            <a:ext cx="13027581" cy="888444"/>
          </a:xfrm>
          <a:prstGeom prst="rect">
            <a:avLst/>
          </a:prstGeom>
          <a:solidFill>
            <a:srgbClr val="FFFFFF">
              <a:alpha val="4000"/>
            </a:srgbClr>
          </a:solidFill>
          <a:ln/>
        </p:spPr>
        <p:txBody>
          <a:bodyPr/>
          <a:lstStyle/>
          <a:p>
            <a:endParaRPr lang="en-IN"/>
          </a:p>
        </p:txBody>
      </p:sp>
      <p:sp>
        <p:nvSpPr>
          <p:cNvPr id="19" name="Text 17"/>
          <p:cNvSpPr/>
          <p:nvPr/>
        </p:nvSpPr>
        <p:spPr>
          <a:xfrm>
            <a:off x="999887" y="6398895"/>
            <a:ext cx="2204918" cy="317540"/>
          </a:xfrm>
          <a:prstGeom prst="rect">
            <a:avLst/>
          </a:prstGeom>
          <a:noFill/>
          <a:ln/>
        </p:spPr>
        <p:txBody>
          <a:bodyPr wrap="none" lIns="0" tIns="0" rIns="0" bIns="0" rtlCol="0" anchor="t"/>
          <a:lstStyle/>
          <a:p>
            <a:pPr marL="0" indent="0" algn="l">
              <a:lnSpc>
                <a:spcPts val="2500"/>
              </a:lnSpc>
              <a:buNone/>
            </a:pPr>
            <a:r>
              <a:rPr lang="en-US" sz="1550" b="1" dirty="0">
                <a:solidFill>
                  <a:srgbClr val="DAD1E6"/>
                </a:solidFill>
                <a:latin typeface="Fira Sans" pitchFamily="34" charset="0"/>
                <a:ea typeface="Fira Sans" pitchFamily="34" charset="-122"/>
                <a:cs typeface="Fira Sans" pitchFamily="34" charset="-120"/>
              </a:rPr>
              <a:t>Output Layer</a:t>
            </a:r>
            <a:endParaRPr lang="en-US" sz="1550" dirty="0"/>
          </a:p>
        </p:txBody>
      </p:sp>
      <p:sp>
        <p:nvSpPr>
          <p:cNvPr id="20" name="Text 18"/>
          <p:cNvSpPr/>
          <p:nvPr/>
        </p:nvSpPr>
        <p:spPr>
          <a:xfrm>
            <a:off x="3609142" y="6398895"/>
            <a:ext cx="1002149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A Dense layer with Softmax activation, predicting probabilities for each of the predefined emotion categories (e.g., happy, sad, angry).</a:t>
            </a:r>
            <a:endParaRPr lang="en-US" sz="1550" dirty="0"/>
          </a:p>
        </p:txBody>
      </p:sp>
      <p:pic>
        <p:nvPicPr>
          <p:cNvPr id="22" name="Picture 21" descr="A close-up of a logo&#10;&#10;AI-generated content may be incorrect.">
            <a:extLst>
              <a:ext uri="{FF2B5EF4-FFF2-40B4-BE49-F238E27FC236}">
                <a16:creationId xmlns:a16="http://schemas.microsoft.com/office/drawing/2014/main" id="{5F000ACF-22F7-DD3E-1A2C-133F4012BF3C}"/>
              </a:ext>
            </a:extLst>
          </p:cNvPr>
          <p:cNvPicPr>
            <a:picLocks noChangeAspect="1"/>
          </p:cNvPicPr>
          <p:nvPr/>
        </p:nvPicPr>
        <p:blipFill>
          <a:blip r:embed="rId3"/>
          <a:stretch>
            <a:fillRect/>
          </a:stretch>
        </p:blipFill>
        <p:spPr>
          <a:xfrm>
            <a:off x="12374561" y="7080284"/>
            <a:ext cx="2255839" cy="11493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29615" y="501610"/>
            <a:ext cx="2280285" cy="284917"/>
          </a:xfrm>
          <a:prstGeom prst="rect">
            <a:avLst/>
          </a:prstGeom>
          <a:noFill/>
          <a:ln/>
        </p:spPr>
        <p:txBody>
          <a:bodyPr wrap="none" lIns="0" tIns="0" rIns="0" bIns="0" rtlCol="0" anchor="t"/>
          <a:lstStyle/>
          <a:p>
            <a:pPr marL="0" indent="0" algn="l">
              <a:lnSpc>
                <a:spcPts val="2200"/>
              </a:lnSpc>
              <a:buNone/>
            </a:pPr>
            <a:r>
              <a:rPr lang="en-US" sz="1750" b="1" dirty="0">
                <a:solidFill>
                  <a:srgbClr val="F94CAF"/>
                </a:solidFill>
                <a:latin typeface="Inconsolata Bold" pitchFamily="34" charset="0"/>
                <a:ea typeface="Inconsolata Bold" pitchFamily="34" charset="-122"/>
                <a:cs typeface="Inconsolata Bold" pitchFamily="34" charset="-120"/>
              </a:rPr>
              <a:t>System Operations</a:t>
            </a:r>
            <a:endParaRPr lang="en-US" sz="1750" dirty="0"/>
          </a:p>
        </p:txBody>
      </p:sp>
      <p:sp>
        <p:nvSpPr>
          <p:cNvPr id="3" name="Text 1"/>
          <p:cNvSpPr/>
          <p:nvPr/>
        </p:nvSpPr>
        <p:spPr>
          <a:xfrm>
            <a:off x="729615" y="968931"/>
            <a:ext cx="6156246" cy="570071"/>
          </a:xfrm>
          <a:prstGeom prst="rect">
            <a:avLst/>
          </a:prstGeom>
          <a:noFill/>
          <a:ln/>
        </p:spPr>
        <p:txBody>
          <a:bodyPr wrap="none" lIns="0" tIns="0" rIns="0" bIns="0" rtlCol="0" anchor="t"/>
          <a:lstStyle/>
          <a:p>
            <a:pPr marL="0" indent="0" algn="l">
              <a:lnSpc>
                <a:spcPts val="4450"/>
              </a:lnSpc>
              <a:buNone/>
            </a:pPr>
            <a:r>
              <a:rPr lang="en-US" sz="3550" b="1" dirty="0">
                <a:solidFill>
                  <a:srgbClr val="F94CAF"/>
                </a:solidFill>
                <a:latin typeface="Inconsolata Bold" pitchFamily="34" charset="0"/>
                <a:ea typeface="Inconsolata Bold" pitchFamily="34" charset="-122"/>
                <a:cs typeface="Inconsolata Bold" pitchFamily="34" charset="-120"/>
              </a:rPr>
              <a:t>End-to-End Workflow Diagram</a:t>
            </a:r>
            <a:endParaRPr lang="en-US" sz="3550" dirty="0"/>
          </a:p>
        </p:txBody>
      </p:sp>
      <p:pic>
        <p:nvPicPr>
          <p:cNvPr id="4" name="Image 0" descr="preencoded.png"/>
          <p:cNvPicPr>
            <a:picLocks noChangeAspect="1"/>
          </p:cNvPicPr>
          <p:nvPr/>
        </p:nvPicPr>
        <p:blipFill>
          <a:blip r:embed="rId3"/>
          <a:stretch>
            <a:fillRect/>
          </a:stretch>
        </p:blipFill>
        <p:spPr>
          <a:xfrm>
            <a:off x="783908" y="1812607"/>
            <a:ext cx="13062585" cy="5632847"/>
          </a:xfrm>
          <a:prstGeom prst="rect">
            <a:avLst/>
          </a:prstGeom>
        </p:spPr>
      </p:pic>
      <p:sp>
        <p:nvSpPr>
          <p:cNvPr id="5" name="Text 2"/>
          <p:cNvSpPr/>
          <p:nvPr/>
        </p:nvSpPr>
        <p:spPr>
          <a:xfrm>
            <a:off x="1662925" y="6377256"/>
            <a:ext cx="2963439" cy="370430"/>
          </a:xfrm>
          <a:prstGeom prst="rect">
            <a:avLst/>
          </a:prstGeom>
          <a:noFill/>
          <a:ln/>
        </p:spPr>
        <p:txBody>
          <a:bodyPr wrap="none" lIns="0" tIns="0" rIns="0" bIns="0" rtlCol="0" anchor="t"/>
          <a:lstStyle/>
          <a:p>
            <a:pPr marL="0" indent="0" algn="l">
              <a:lnSpc>
                <a:spcPts val="1650"/>
              </a:lnSpc>
              <a:buNone/>
            </a:pPr>
            <a:r>
              <a:rPr lang="en-US" sz="1350" b="1" dirty="0">
                <a:solidFill>
                  <a:srgbClr val="000000"/>
                </a:solidFill>
                <a:latin typeface="Inconsolata Bold" pitchFamily="34" charset="0"/>
                <a:ea typeface="Inconsolata Bold" pitchFamily="34" charset="-122"/>
                <a:cs typeface="Inconsolata Bold" pitchFamily="34" charset="-120"/>
              </a:rPr>
              <a:t>Emotion Prediction</a:t>
            </a:r>
            <a:endParaRPr lang="en-US" sz="1350" dirty="0"/>
          </a:p>
        </p:txBody>
      </p:sp>
      <p:sp>
        <p:nvSpPr>
          <p:cNvPr id="6" name="Text 3"/>
          <p:cNvSpPr/>
          <p:nvPr/>
        </p:nvSpPr>
        <p:spPr>
          <a:xfrm>
            <a:off x="1662925" y="5073342"/>
            <a:ext cx="2963439" cy="370430"/>
          </a:xfrm>
          <a:prstGeom prst="rect">
            <a:avLst/>
          </a:prstGeom>
          <a:noFill/>
          <a:ln/>
        </p:spPr>
        <p:txBody>
          <a:bodyPr wrap="none" lIns="0" tIns="0" rIns="0" bIns="0" rtlCol="0" anchor="t"/>
          <a:lstStyle/>
          <a:p>
            <a:pPr marL="0" indent="0" algn="l">
              <a:lnSpc>
                <a:spcPts val="1650"/>
              </a:lnSpc>
              <a:buNone/>
            </a:pPr>
            <a:r>
              <a:rPr lang="en-US" sz="1350" b="1" dirty="0">
                <a:solidFill>
                  <a:srgbClr val="000000"/>
                </a:solidFill>
                <a:latin typeface="Inconsolata Bold" pitchFamily="34" charset="0"/>
                <a:ea typeface="Inconsolata Bold" pitchFamily="34" charset="-122"/>
                <a:cs typeface="Inconsolata Bold" pitchFamily="34" charset="-120"/>
              </a:rPr>
              <a:t>CNN</a:t>
            </a:r>
            <a:endParaRPr lang="en-US" sz="1350" dirty="0"/>
          </a:p>
        </p:txBody>
      </p:sp>
      <p:sp>
        <p:nvSpPr>
          <p:cNvPr id="7" name="Text 4"/>
          <p:cNvSpPr/>
          <p:nvPr/>
        </p:nvSpPr>
        <p:spPr>
          <a:xfrm>
            <a:off x="1662925" y="3782601"/>
            <a:ext cx="2963439" cy="370430"/>
          </a:xfrm>
          <a:prstGeom prst="rect">
            <a:avLst/>
          </a:prstGeom>
          <a:noFill/>
          <a:ln/>
        </p:spPr>
        <p:txBody>
          <a:bodyPr wrap="none" lIns="0" tIns="0" rIns="0" bIns="0" rtlCol="0" anchor="t"/>
          <a:lstStyle/>
          <a:p>
            <a:pPr marL="0" indent="0" algn="l">
              <a:lnSpc>
                <a:spcPts val="1650"/>
              </a:lnSpc>
              <a:buNone/>
            </a:pPr>
            <a:r>
              <a:rPr lang="en-US" sz="1350" b="1" dirty="0">
                <a:solidFill>
                  <a:srgbClr val="000000"/>
                </a:solidFill>
                <a:latin typeface="Inconsolata Bold" pitchFamily="34" charset="0"/>
                <a:ea typeface="Inconsolata Bold" pitchFamily="34" charset="-122"/>
                <a:cs typeface="Inconsolata Bold" pitchFamily="34" charset="-120"/>
              </a:rPr>
              <a:t>Preprocessing</a:t>
            </a:r>
            <a:endParaRPr lang="en-US" sz="1350" dirty="0"/>
          </a:p>
        </p:txBody>
      </p:sp>
      <p:sp>
        <p:nvSpPr>
          <p:cNvPr id="8" name="Text 5"/>
          <p:cNvSpPr/>
          <p:nvPr/>
        </p:nvSpPr>
        <p:spPr>
          <a:xfrm>
            <a:off x="1662925" y="2478687"/>
            <a:ext cx="2963439" cy="370430"/>
          </a:xfrm>
          <a:prstGeom prst="rect">
            <a:avLst/>
          </a:prstGeom>
          <a:noFill/>
          <a:ln/>
        </p:spPr>
        <p:txBody>
          <a:bodyPr wrap="none" lIns="0" tIns="0" rIns="0" bIns="0" rtlCol="0" anchor="t"/>
          <a:lstStyle/>
          <a:p>
            <a:pPr marL="0" indent="0" algn="l">
              <a:lnSpc>
                <a:spcPts val="1650"/>
              </a:lnSpc>
              <a:buNone/>
            </a:pPr>
            <a:r>
              <a:rPr lang="en-US" sz="1350" b="1" dirty="0">
                <a:solidFill>
                  <a:srgbClr val="000000"/>
                </a:solidFill>
                <a:latin typeface="Inconsolata Bold" pitchFamily="34" charset="0"/>
                <a:ea typeface="Inconsolata Bold" pitchFamily="34" charset="-122"/>
                <a:cs typeface="Inconsolata Bold" pitchFamily="34" charset="-120"/>
              </a:rPr>
              <a:t>Webcam Input</a:t>
            </a:r>
            <a:endParaRPr lang="en-US" sz="1350" dirty="0"/>
          </a:p>
        </p:txBody>
      </p:sp>
      <p:sp>
        <p:nvSpPr>
          <p:cNvPr id="9" name="Text 6"/>
          <p:cNvSpPr/>
          <p:nvPr/>
        </p:nvSpPr>
        <p:spPr>
          <a:xfrm>
            <a:off x="729615" y="7650599"/>
            <a:ext cx="13171170" cy="583644"/>
          </a:xfrm>
          <a:prstGeom prst="rect">
            <a:avLst/>
          </a:prstGeom>
          <a:noFill/>
          <a:ln/>
        </p:spPr>
        <p:txBody>
          <a:bodyPr wrap="square" lIns="0" tIns="0" rIns="0" bIns="0" rtlCol="0" anchor="t"/>
          <a:lstStyle/>
          <a:p>
            <a:pPr marL="0" indent="0" algn="l">
              <a:lnSpc>
                <a:spcPts val="2250"/>
              </a:lnSpc>
              <a:buNone/>
            </a:pPr>
            <a:r>
              <a:rPr lang="en-US" sz="1400" dirty="0">
                <a:solidFill>
                  <a:srgbClr val="DAD1E6"/>
                </a:solidFill>
                <a:latin typeface="Fira Sans" pitchFamily="34" charset="0"/>
                <a:ea typeface="Fira Sans" pitchFamily="34" charset="-122"/>
                <a:cs typeface="Fira Sans" pitchFamily="34" charset="-120"/>
              </a:rPr>
              <a:t>This diagram illustrates the sequential flow of data, from initial capture to final emotion classification and notification, ensuring a clear understanding of the system's operational pipeline.</a:t>
            </a:r>
            <a:endParaRPr lang="en-US" sz="1400" dirty="0"/>
          </a:p>
        </p:txBody>
      </p:sp>
      <p:pic>
        <p:nvPicPr>
          <p:cNvPr id="11" name="Picture 10" descr="A close-up of a logo&#10;&#10;AI-generated content may be incorrect.">
            <a:extLst>
              <a:ext uri="{FF2B5EF4-FFF2-40B4-BE49-F238E27FC236}">
                <a16:creationId xmlns:a16="http://schemas.microsoft.com/office/drawing/2014/main" id="{9AABDD6B-1D6B-5EFE-DAF4-EB556A39B7E6}"/>
              </a:ext>
            </a:extLst>
          </p:cNvPr>
          <p:cNvPicPr>
            <a:picLocks noChangeAspect="1"/>
          </p:cNvPicPr>
          <p:nvPr/>
        </p:nvPicPr>
        <p:blipFill>
          <a:blip r:embed="rId4"/>
          <a:stretch>
            <a:fillRect/>
          </a:stretch>
        </p:blipFill>
        <p:spPr>
          <a:xfrm>
            <a:off x="12849027" y="7409359"/>
            <a:ext cx="1781373" cy="90758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678781"/>
            <a:ext cx="2604135"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Practical Application</a:t>
            </a:r>
            <a:endParaRPr lang="en-US" sz="1950" dirty="0"/>
          </a:p>
        </p:txBody>
      </p:sp>
      <p:sp>
        <p:nvSpPr>
          <p:cNvPr id="3" name="Text 1"/>
          <p:cNvSpPr/>
          <p:nvPr/>
        </p:nvSpPr>
        <p:spPr>
          <a:xfrm>
            <a:off x="793790" y="2187297"/>
            <a:ext cx="5457587"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Implementation Details</a:t>
            </a:r>
            <a:endParaRPr lang="en-US" sz="3900" dirty="0"/>
          </a:p>
        </p:txBody>
      </p:sp>
      <p:sp>
        <p:nvSpPr>
          <p:cNvPr id="4" name="Text 2"/>
          <p:cNvSpPr/>
          <p:nvPr/>
        </p:nvSpPr>
        <p:spPr>
          <a:xfrm>
            <a:off x="793790" y="3105031"/>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Our system's implementation focused on leveraging powerful libraries to streamline development and ensure robust, real-time performance.</a:t>
            </a:r>
            <a:endParaRPr lang="en-US" sz="1550" dirty="0"/>
          </a:p>
        </p:txBody>
      </p:sp>
      <p:pic>
        <p:nvPicPr>
          <p:cNvPr id="5" name="Image 0" descr="preencoded.png"/>
          <p:cNvPicPr>
            <a:picLocks noChangeAspect="1"/>
          </p:cNvPicPr>
          <p:nvPr/>
        </p:nvPicPr>
        <p:blipFill>
          <a:blip r:embed="rId3"/>
          <a:stretch>
            <a:fillRect/>
          </a:stretch>
        </p:blipFill>
        <p:spPr>
          <a:xfrm>
            <a:off x="793790" y="3645813"/>
            <a:ext cx="595313" cy="595313"/>
          </a:xfrm>
          <a:prstGeom prst="rect">
            <a:avLst/>
          </a:prstGeom>
        </p:spPr>
      </p:pic>
      <p:sp>
        <p:nvSpPr>
          <p:cNvPr id="6" name="Text 3"/>
          <p:cNvSpPr/>
          <p:nvPr/>
        </p:nvSpPr>
        <p:spPr>
          <a:xfrm>
            <a:off x="1637109" y="3782258"/>
            <a:ext cx="3338870" cy="744141"/>
          </a:xfrm>
          <a:prstGeom prst="rect">
            <a:avLst/>
          </a:prstGeom>
          <a:noFill/>
          <a:ln/>
        </p:spPr>
        <p:txBody>
          <a:bodyPr wrap="squar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Keras ImageDataGenerator</a:t>
            </a:r>
            <a:endParaRPr lang="en-US" sz="2300" dirty="0"/>
          </a:p>
        </p:txBody>
      </p:sp>
      <p:sp>
        <p:nvSpPr>
          <p:cNvPr id="7" name="Text 4"/>
          <p:cNvSpPr/>
          <p:nvPr/>
        </p:nvSpPr>
        <p:spPr>
          <a:xfrm>
            <a:off x="1637109" y="4645462"/>
            <a:ext cx="3338870" cy="190523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Utilized for on-the-fly data augmentation (e.g., rotations, flips, zooms) to enhance model robustness and prevent overfitting, crucial for improving generalization across diverse facial expressions.</a:t>
            </a:r>
            <a:endParaRPr lang="en-US" sz="1550" dirty="0"/>
          </a:p>
        </p:txBody>
      </p:sp>
      <p:pic>
        <p:nvPicPr>
          <p:cNvPr id="8" name="Image 1" descr="preencoded.png"/>
          <p:cNvPicPr>
            <a:picLocks noChangeAspect="1"/>
          </p:cNvPicPr>
          <p:nvPr/>
        </p:nvPicPr>
        <p:blipFill>
          <a:blip r:embed="rId4"/>
          <a:stretch>
            <a:fillRect/>
          </a:stretch>
        </p:blipFill>
        <p:spPr>
          <a:xfrm>
            <a:off x="5223986" y="3645813"/>
            <a:ext cx="595313" cy="595313"/>
          </a:xfrm>
          <a:prstGeom prst="rect">
            <a:avLst/>
          </a:prstGeom>
        </p:spPr>
      </p:pic>
      <p:sp>
        <p:nvSpPr>
          <p:cNvPr id="9" name="Text 5"/>
          <p:cNvSpPr/>
          <p:nvPr/>
        </p:nvSpPr>
        <p:spPr>
          <a:xfrm>
            <a:off x="6067306" y="3782258"/>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Twilio Python SDK</a:t>
            </a:r>
            <a:endParaRPr lang="en-US" sz="2300" dirty="0"/>
          </a:p>
        </p:txBody>
      </p:sp>
      <p:sp>
        <p:nvSpPr>
          <p:cNvPr id="10" name="Text 6"/>
          <p:cNvSpPr/>
          <p:nvPr/>
        </p:nvSpPr>
        <p:spPr>
          <a:xfrm>
            <a:off x="6067306" y="4273391"/>
            <a:ext cx="3338989" cy="158769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Integrated the official Twilio Python SDK to programmatically send SMS alerts based on detected emotional states, enabling instant notifications for specified emotional triggers.</a:t>
            </a:r>
            <a:endParaRPr lang="en-US" sz="1550" dirty="0"/>
          </a:p>
        </p:txBody>
      </p:sp>
      <p:pic>
        <p:nvPicPr>
          <p:cNvPr id="11" name="Image 2" descr="preencoded.png"/>
          <p:cNvPicPr>
            <a:picLocks noChangeAspect="1"/>
          </p:cNvPicPr>
          <p:nvPr/>
        </p:nvPicPr>
        <p:blipFill>
          <a:blip r:embed="rId5"/>
          <a:stretch>
            <a:fillRect/>
          </a:stretch>
        </p:blipFill>
        <p:spPr>
          <a:xfrm>
            <a:off x="9654302" y="3645813"/>
            <a:ext cx="595313" cy="595313"/>
          </a:xfrm>
          <a:prstGeom prst="rect">
            <a:avLst/>
          </a:prstGeom>
        </p:spPr>
      </p:pic>
      <p:sp>
        <p:nvSpPr>
          <p:cNvPr id="12" name="Text 7"/>
          <p:cNvSpPr/>
          <p:nvPr/>
        </p:nvSpPr>
        <p:spPr>
          <a:xfrm>
            <a:off x="10497622" y="3782258"/>
            <a:ext cx="3338989" cy="744141"/>
          </a:xfrm>
          <a:prstGeom prst="rect">
            <a:avLst/>
          </a:prstGeom>
          <a:noFill/>
          <a:ln/>
        </p:spPr>
        <p:txBody>
          <a:bodyPr wrap="square" lIns="0" tIns="0" rIns="0" bIns="0" rtlCol="0" anchor="t"/>
          <a:lstStyle/>
          <a:p>
            <a:pPr marL="0" indent="0" algn="l">
              <a:lnSpc>
                <a:spcPts val="2900"/>
              </a:lnSpc>
              <a:buNone/>
            </a:pPr>
            <a:r>
              <a:rPr lang="en-US" sz="2300" b="1" dirty="0">
                <a:solidFill>
                  <a:srgbClr val="DAD1E6"/>
                </a:solidFill>
                <a:latin typeface="Inconsolata Bold" pitchFamily="34" charset="0"/>
                <a:ea typeface="Inconsolata Bold" pitchFamily="34" charset="-122"/>
                <a:cs typeface="Inconsolata Bold" pitchFamily="34" charset="-120"/>
              </a:rPr>
              <a:t>Real-Time Webcam Testing</a:t>
            </a:r>
            <a:endParaRPr lang="en-US" sz="2300" dirty="0"/>
          </a:p>
        </p:txBody>
      </p:sp>
      <p:sp>
        <p:nvSpPr>
          <p:cNvPr id="13" name="Text 8"/>
          <p:cNvSpPr/>
          <p:nvPr/>
        </p:nvSpPr>
        <p:spPr>
          <a:xfrm>
            <a:off x="10497622" y="4645462"/>
            <a:ext cx="3338989" cy="190523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Conducted extensive real-time testing using a webcam feed, demonstrating the system's capability to detect and classify emotions in live scenarios with minimal latency and high accuracy.</a:t>
            </a:r>
            <a:endParaRPr lang="en-US" sz="1550" dirty="0"/>
          </a:p>
        </p:txBody>
      </p:sp>
      <p:pic>
        <p:nvPicPr>
          <p:cNvPr id="15" name="Picture 14" descr="A close-up of a logo&#10;&#10;AI-generated content may be incorrect.">
            <a:extLst>
              <a:ext uri="{FF2B5EF4-FFF2-40B4-BE49-F238E27FC236}">
                <a16:creationId xmlns:a16="http://schemas.microsoft.com/office/drawing/2014/main" id="{1F1E5E2E-C6EA-A27B-4DA4-BED56C24FF7B}"/>
              </a:ext>
            </a:extLst>
          </p:cNvPr>
          <p:cNvPicPr>
            <a:picLocks noChangeAspect="1"/>
          </p:cNvPicPr>
          <p:nvPr/>
        </p:nvPicPr>
        <p:blipFill>
          <a:blip r:embed="rId6"/>
          <a:stretch>
            <a:fillRect/>
          </a:stretch>
        </p:blipFill>
        <p:spPr>
          <a:xfrm>
            <a:off x="12872792" y="7334125"/>
            <a:ext cx="1757608" cy="895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94504"/>
            <a:ext cx="4092178"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Performance Benchmarks</a:t>
            </a:r>
            <a:endParaRPr lang="en-US" sz="1950" dirty="0"/>
          </a:p>
        </p:txBody>
      </p:sp>
      <p:sp>
        <p:nvSpPr>
          <p:cNvPr id="3" name="Text 1"/>
          <p:cNvSpPr/>
          <p:nvPr/>
        </p:nvSpPr>
        <p:spPr>
          <a:xfrm>
            <a:off x="793790" y="1303020"/>
            <a:ext cx="11907322"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Testing &amp; Validation: Robust Performance Metrics</a:t>
            </a:r>
            <a:endParaRPr lang="en-US" sz="3900" dirty="0"/>
          </a:p>
        </p:txBody>
      </p:sp>
      <p:sp>
        <p:nvSpPr>
          <p:cNvPr id="4" name="Text 2"/>
          <p:cNvSpPr/>
          <p:nvPr/>
        </p:nvSpPr>
        <p:spPr>
          <a:xfrm>
            <a:off x="793790" y="2220754"/>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Our real-time emotion detection system demonstrates strong performance across key metrics, validating its effectiveness in practical scenarios. The model, built using a Convolutional Neural Network (CNN) integrated with OpenCV for video processing and Twilio for real-time communication, achieves high accuracy and low latency.</a:t>
            </a:r>
            <a:endParaRPr lang="en-US" sz="1550" dirty="0"/>
          </a:p>
        </p:txBody>
      </p:sp>
      <p:sp>
        <p:nvSpPr>
          <p:cNvPr id="5" name="Shape 3"/>
          <p:cNvSpPr/>
          <p:nvPr/>
        </p:nvSpPr>
        <p:spPr>
          <a:xfrm>
            <a:off x="793790" y="3495794"/>
            <a:ext cx="5628442" cy="248007"/>
          </a:xfrm>
          <a:prstGeom prst="roundRect">
            <a:avLst>
              <a:gd name="adj" fmla="val 12004"/>
            </a:avLst>
          </a:prstGeom>
          <a:solidFill>
            <a:srgbClr val="433550"/>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793790" y="3495794"/>
            <a:ext cx="4919186" cy="248007"/>
          </a:xfrm>
          <a:prstGeom prst="rect">
            <a:avLst/>
          </a:prstGeom>
        </p:spPr>
      </p:pic>
      <p:sp>
        <p:nvSpPr>
          <p:cNvPr id="7" name="Text 4"/>
          <p:cNvSpPr/>
          <p:nvPr/>
        </p:nvSpPr>
        <p:spPr>
          <a:xfrm>
            <a:off x="6571059" y="3495794"/>
            <a:ext cx="620078" cy="248007"/>
          </a:xfrm>
          <a:prstGeom prst="rect">
            <a:avLst/>
          </a:prstGeom>
          <a:noFill/>
          <a:ln/>
        </p:spPr>
        <p:txBody>
          <a:bodyPr wrap="none" lIns="0" tIns="0" rIns="0" bIns="0" rtlCol="0" anchor="t"/>
          <a:lstStyle/>
          <a:p>
            <a:pPr marL="0" indent="0" algn="l">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87.4%</a:t>
            </a:r>
            <a:endParaRPr lang="en-US" sz="1950" dirty="0"/>
          </a:p>
        </p:txBody>
      </p:sp>
      <p:sp>
        <p:nvSpPr>
          <p:cNvPr id="8" name="Text 5"/>
          <p:cNvSpPr/>
          <p:nvPr/>
        </p:nvSpPr>
        <p:spPr>
          <a:xfrm>
            <a:off x="793790" y="39918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Overall Accuracy</a:t>
            </a:r>
            <a:endParaRPr lang="en-US" sz="1950" dirty="0"/>
          </a:p>
        </p:txBody>
      </p:sp>
      <p:sp>
        <p:nvSpPr>
          <p:cNvPr id="9" name="Text 6"/>
          <p:cNvSpPr/>
          <p:nvPr/>
        </p:nvSpPr>
        <p:spPr>
          <a:xfrm>
            <a:off x="793790" y="4421029"/>
            <a:ext cx="6397347"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Consistent performance across diverse emotional states.</a:t>
            </a:r>
            <a:endParaRPr lang="en-US" sz="1550" dirty="0"/>
          </a:p>
        </p:txBody>
      </p:sp>
      <p:sp>
        <p:nvSpPr>
          <p:cNvPr id="10" name="Shape 7"/>
          <p:cNvSpPr/>
          <p:nvPr/>
        </p:nvSpPr>
        <p:spPr>
          <a:xfrm>
            <a:off x="7439144" y="3495794"/>
            <a:ext cx="5752624" cy="248007"/>
          </a:xfrm>
          <a:prstGeom prst="roundRect">
            <a:avLst>
              <a:gd name="adj" fmla="val 12004"/>
            </a:avLst>
          </a:prstGeom>
          <a:solidFill>
            <a:srgbClr val="433550"/>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7439144" y="3495794"/>
            <a:ext cx="51197" cy="248007"/>
          </a:xfrm>
          <a:prstGeom prst="rect">
            <a:avLst/>
          </a:prstGeom>
        </p:spPr>
      </p:pic>
      <p:sp>
        <p:nvSpPr>
          <p:cNvPr id="12" name="Text 8"/>
          <p:cNvSpPr/>
          <p:nvPr/>
        </p:nvSpPr>
        <p:spPr>
          <a:xfrm>
            <a:off x="13340596" y="3495794"/>
            <a:ext cx="496014" cy="248007"/>
          </a:xfrm>
          <a:prstGeom prst="rect">
            <a:avLst/>
          </a:prstGeom>
          <a:noFill/>
          <a:ln/>
        </p:spPr>
        <p:txBody>
          <a:bodyPr wrap="none" lIns="0" tIns="0" rIns="0" bIns="0" rtlCol="0" anchor="t"/>
          <a:lstStyle/>
          <a:p>
            <a:pPr marL="0" indent="0" algn="l">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0.89</a:t>
            </a:r>
            <a:endParaRPr lang="en-US" sz="1950" dirty="0"/>
          </a:p>
        </p:txBody>
      </p:sp>
      <p:sp>
        <p:nvSpPr>
          <p:cNvPr id="13" name="Text 9"/>
          <p:cNvSpPr/>
          <p:nvPr/>
        </p:nvSpPr>
        <p:spPr>
          <a:xfrm>
            <a:off x="7439144" y="39918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Precision Score</a:t>
            </a:r>
            <a:endParaRPr lang="en-US" sz="1950" dirty="0"/>
          </a:p>
        </p:txBody>
      </p:sp>
      <p:sp>
        <p:nvSpPr>
          <p:cNvPr id="14" name="Text 10"/>
          <p:cNvSpPr/>
          <p:nvPr/>
        </p:nvSpPr>
        <p:spPr>
          <a:xfrm>
            <a:off x="7439144" y="4421029"/>
            <a:ext cx="6397466"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High confidence in positive predictions.</a:t>
            </a:r>
            <a:endParaRPr lang="en-US" sz="1550" dirty="0"/>
          </a:p>
        </p:txBody>
      </p:sp>
      <p:sp>
        <p:nvSpPr>
          <p:cNvPr id="15" name="Shape 11"/>
          <p:cNvSpPr/>
          <p:nvPr/>
        </p:nvSpPr>
        <p:spPr>
          <a:xfrm>
            <a:off x="793790" y="5333881"/>
            <a:ext cx="5752505" cy="248007"/>
          </a:xfrm>
          <a:prstGeom prst="roundRect">
            <a:avLst>
              <a:gd name="adj" fmla="val 12004"/>
            </a:avLst>
          </a:prstGeom>
          <a:solidFill>
            <a:srgbClr val="433550"/>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793790" y="5333881"/>
            <a:ext cx="49411" cy="248007"/>
          </a:xfrm>
          <a:prstGeom prst="rect">
            <a:avLst/>
          </a:prstGeom>
        </p:spPr>
      </p:pic>
      <p:sp>
        <p:nvSpPr>
          <p:cNvPr id="17" name="Text 12"/>
          <p:cNvSpPr/>
          <p:nvPr/>
        </p:nvSpPr>
        <p:spPr>
          <a:xfrm>
            <a:off x="6695123" y="5333881"/>
            <a:ext cx="496014" cy="248007"/>
          </a:xfrm>
          <a:prstGeom prst="rect">
            <a:avLst/>
          </a:prstGeom>
          <a:noFill/>
          <a:ln/>
        </p:spPr>
        <p:txBody>
          <a:bodyPr wrap="none" lIns="0" tIns="0" rIns="0" bIns="0" rtlCol="0" anchor="t"/>
          <a:lstStyle/>
          <a:p>
            <a:pPr marL="0" indent="0" algn="l">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0.86</a:t>
            </a:r>
            <a:endParaRPr lang="en-US" sz="1950" dirty="0"/>
          </a:p>
        </p:txBody>
      </p:sp>
      <p:sp>
        <p:nvSpPr>
          <p:cNvPr id="18" name="Text 13"/>
          <p:cNvSpPr/>
          <p:nvPr/>
        </p:nvSpPr>
        <p:spPr>
          <a:xfrm>
            <a:off x="793790" y="582989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Recall Score</a:t>
            </a:r>
            <a:endParaRPr lang="en-US" sz="1950" dirty="0"/>
          </a:p>
        </p:txBody>
      </p:sp>
      <p:sp>
        <p:nvSpPr>
          <p:cNvPr id="19" name="Text 14"/>
          <p:cNvSpPr/>
          <p:nvPr/>
        </p:nvSpPr>
        <p:spPr>
          <a:xfrm>
            <a:off x="793790" y="6259116"/>
            <a:ext cx="6397347"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Effectively identifies true positive instances.</a:t>
            </a:r>
            <a:endParaRPr lang="en-US" sz="1550" dirty="0"/>
          </a:p>
        </p:txBody>
      </p:sp>
      <p:sp>
        <p:nvSpPr>
          <p:cNvPr id="20" name="Shape 15"/>
          <p:cNvSpPr/>
          <p:nvPr/>
        </p:nvSpPr>
        <p:spPr>
          <a:xfrm>
            <a:off x="7439144" y="5333881"/>
            <a:ext cx="5752624" cy="248007"/>
          </a:xfrm>
          <a:prstGeom prst="roundRect">
            <a:avLst>
              <a:gd name="adj" fmla="val 12004"/>
            </a:avLst>
          </a:prstGeom>
          <a:solidFill>
            <a:srgbClr val="433550"/>
          </a:solidFill>
          <a:ln/>
        </p:spPr>
        <p:txBody>
          <a:bodyPr/>
          <a:lstStyle/>
          <a:p>
            <a:endParaRPr lang="en-IN"/>
          </a:p>
        </p:txBody>
      </p:sp>
      <p:pic>
        <p:nvPicPr>
          <p:cNvPr id="21" name="Image 3" descr="preencoded.png"/>
          <p:cNvPicPr>
            <a:picLocks noChangeAspect="1"/>
          </p:cNvPicPr>
          <p:nvPr/>
        </p:nvPicPr>
        <p:blipFill>
          <a:blip r:embed="rId4"/>
          <a:stretch>
            <a:fillRect/>
          </a:stretch>
        </p:blipFill>
        <p:spPr>
          <a:xfrm>
            <a:off x="7439144" y="5333881"/>
            <a:ext cx="50006" cy="248007"/>
          </a:xfrm>
          <a:prstGeom prst="rect">
            <a:avLst/>
          </a:prstGeom>
        </p:spPr>
      </p:pic>
      <p:sp>
        <p:nvSpPr>
          <p:cNvPr id="22" name="Text 16"/>
          <p:cNvSpPr/>
          <p:nvPr/>
        </p:nvSpPr>
        <p:spPr>
          <a:xfrm>
            <a:off x="13340596" y="5333881"/>
            <a:ext cx="496014" cy="248007"/>
          </a:xfrm>
          <a:prstGeom prst="rect">
            <a:avLst/>
          </a:prstGeom>
          <a:noFill/>
          <a:ln/>
        </p:spPr>
        <p:txBody>
          <a:bodyPr wrap="none" lIns="0" tIns="0" rIns="0" bIns="0" rtlCol="0" anchor="t"/>
          <a:lstStyle/>
          <a:p>
            <a:pPr marL="0" indent="0" algn="l">
              <a:lnSpc>
                <a:spcPts val="1950"/>
              </a:lnSpc>
              <a:buNone/>
            </a:pPr>
            <a:r>
              <a:rPr lang="en-US" sz="1950" b="1" dirty="0">
                <a:solidFill>
                  <a:srgbClr val="DAD1E6"/>
                </a:solidFill>
                <a:latin typeface="Inconsolata Bold" pitchFamily="34" charset="0"/>
                <a:ea typeface="Inconsolata Bold" pitchFamily="34" charset="-122"/>
                <a:cs typeface="Inconsolata Bold" pitchFamily="34" charset="-120"/>
              </a:rPr>
              <a:t>0.87</a:t>
            </a:r>
            <a:endParaRPr lang="en-US" sz="1950" dirty="0"/>
          </a:p>
        </p:txBody>
      </p:sp>
      <p:sp>
        <p:nvSpPr>
          <p:cNvPr id="23" name="Text 17"/>
          <p:cNvSpPr/>
          <p:nvPr/>
        </p:nvSpPr>
        <p:spPr>
          <a:xfrm>
            <a:off x="7439144" y="582989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F1-Score</a:t>
            </a:r>
            <a:endParaRPr lang="en-US" sz="1950" dirty="0"/>
          </a:p>
        </p:txBody>
      </p:sp>
      <p:sp>
        <p:nvSpPr>
          <p:cNvPr id="24" name="Text 18"/>
          <p:cNvSpPr/>
          <p:nvPr/>
        </p:nvSpPr>
        <p:spPr>
          <a:xfrm>
            <a:off x="7439144" y="6259116"/>
            <a:ext cx="6397466"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Balanced measure of precision and recall.</a:t>
            </a:r>
            <a:endParaRPr lang="en-US" sz="1550" dirty="0"/>
          </a:p>
        </p:txBody>
      </p:sp>
      <p:sp>
        <p:nvSpPr>
          <p:cNvPr id="25" name="Text 19"/>
          <p:cNvSpPr/>
          <p:nvPr/>
        </p:nvSpPr>
        <p:spPr>
          <a:xfrm>
            <a:off x="793790" y="679989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The confusion matrix reveals particular strength in recognizing "happy" and "sad" emotions, while "fear" and "surprise" present areas for further refinement, indicating nuanced challenges in subtle facial expressions.</a:t>
            </a:r>
            <a:endParaRPr lang="en-US" sz="1550" dirty="0"/>
          </a:p>
        </p:txBody>
      </p:sp>
      <p:pic>
        <p:nvPicPr>
          <p:cNvPr id="27" name="Picture 26" descr="A close-up of a logo&#10;&#10;AI-generated content may be incorrect.">
            <a:extLst>
              <a:ext uri="{FF2B5EF4-FFF2-40B4-BE49-F238E27FC236}">
                <a16:creationId xmlns:a16="http://schemas.microsoft.com/office/drawing/2014/main" id="{7D791521-D7C4-2C61-C606-3D4061F844E0}"/>
              </a:ext>
            </a:extLst>
          </p:cNvPr>
          <p:cNvPicPr>
            <a:picLocks noChangeAspect="1"/>
          </p:cNvPicPr>
          <p:nvPr/>
        </p:nvPicPr>
        <p:blipFill>
          <a:blip r:embed="rId6"/>
          <a:stretch>
            <a:fillRect/>
          </a:stretch>
        </p:blipFill>
        <p:spPr>
          <a:xfrm>
            <a:off x="12709908" y="7236501"/>
            <a:ext cx="1920492" cy="9784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45569" y="663297"/>
            <a:ext cx="4075509" cy="291227"/>
          </a:xfrm>
          <a:prstGeom prst="rect">
            <a:avLst/>
          </a:prstGeom>
          <a:noFill/>
          <a:ln/>
        </p:spPr>
        <p:txBody>
          <a:bodyPr wrap="none" lIns="0" tIns="0" rIns="0" bIns="0" rtlCol="0" anchor="t"/>
          <a:lstStyle/>
          <a:p>
            <a:pPr marL="0" indent="0" algn="l">
              <a:lnSpc>
                <a:spcPts val="2250"/>
              </a:lnSpc>
              <a:buNone/>
            </a:pPr>
            <a:r>
              <a:rPr lang="en-US" sz="1800" b="1" dirty="0">
                <a:solidFill>
                  <a:srgbClr val="F94CAF"/>
                </a:solidFill>
                <a:latin typeface="Inconsolata Bold" pitchFamily="34" charset="0"/>
                <a:ea typeface="Inconsolata Bold" pitchFamily="34" charset="-122"/>
                <a:cs typeface="Inconsolata Bold" pitchFamily="34" charset="-120"/>
              </a:rPr>
              <a:t>Transformative Use Cases</a:t>
            </a:r>
            <a:endParaRPr lang="en-US" sz="1800" dirty="0"/>
          </a:p>
        </p:txBody>
      </p:sp>
      <p:sp>
        <p:nvSpPr>
          <p:cNvPr id="3" name="Text 1"/>
          <p:cNvSpPr/>
          <p:nvPr/>
        </p:nvSpPr>
        <p:spPr>
          <a:xfrm>
            <a:off x="745569" y="1140857"/>
            <a:ext cx="9550837" cy="582454"/>
          </a:xfrm>
          <a:prstGeom prst="rect">
            <a:avLst/>
          </a:prstGeom>
          <a:noFill/>
          <a:ln/>
        </p:spPr>
        <p:txBody>
          <a:bodyPr wrap="none" lIns="0" tIns="0" rIns="0" bIns="0" rtlCol="0" anchor="t"/>
          <a:lstStyle/>
          <a:p>
            <a:pPr marL="0" indent="0" algn="l">
              <a:lnSpc>
                <a:spcPts val="4550"/>
              </a:lnSpc>
              <a:buNone/>
            </a:pPr>
            <a:r>
              <a:rPr lang="en-US" sz="3650" b="1" dirty="0">
                <a:solidFill>
                  <a:srgbClr val="F94CAF"/>
                </a:solidFill>
                <a:latin typeface="Inconsolata Bold" pitchFamily="34" charset="0"/>
                <a:ea typeface="Inconsolata Bold" pitchFamily="34" charset="-122"/>
                <a:cs typeface="Inconsolata Bold" pitchFamily="34" charset="-120"/>
              </a:rPr>
              <a:t>Impactful Applications Across Key Sectors</a:t>
            </a:r>
            <a:endParaRPr lang="en-US" sz="3650" dirty="0"/>
          </a:p>
        </p:txBody>
      </p:sp>
      <p:sp>
        <p:nvSpPr>
          <p:cNvPr id="4" name="Text 2"/>
          <p:cNvSpPr/>
          <p:nvPr/>
        </p:nvSpPr>
        <p:spPr>
          <a:xfrm>
            <a:off x="745569" y="2002869"/>
            <a:ext cx="13139261" cy="596503"/>
          </a:xfrm>
          <a:prstGeom prst="rect">
            <a:avLst/>
          </a:prstGeom>
          <a:noFill/>
          <a:ln/>
        </p:spPr>
        <p:txBody>
          <a:bodyPr wrap="square" lIns="0" tIns="0" rIns="0" bIns="0" rtlCol="0" anchor="t"/>
          <a:lstStyle/>
          <a:p>
            <a:pPr marL="0" indent="0" algn="l">
              <a:lnSpc>
                <a:spcPts val="2300"/>
              </a:lnSpc>
              <a:buNone/>
            </a:pPr>
            <a:r>
              <a:rPr lang="en-US" sz="1450" dirty="0">
                <a:solidFill>
                  <a:srgbClr val="DAD1E6"/>
                </a:solidFill>
                <a:latin typeface="Fira Sans" pitchFamily="34" charset="0"/>
                <a:ea typeface="Fira Sans" pitchFamily="34" charset="-122"/>
                <a:cs typeface="Fira Sans" pitchFamily="34" charset="-120"/>
              </a:rPr>
              <a:t>Real-time emotion detection opens doors to innovative solutions, enhancing user experiences and operational efficiencies in critical domains. Here are some of the most promising applications:</a:t>
            </a:r>
            <a:endParaRPr lang="en-US" sz="1450" dirty="0"/>
          </a:p>
        </p:txBody>
      </p:sp>
      <p:pic>
        <p:nvPicPr>
          <p:cNvPr id="5" name="Image 0" descr="preencoded.png"/>
          <p:cNvPicPr>
            <a:picLocks noChangeAspect="1"/>
          </p:cNvPicPr>
          <p:nvPr/>
        </p:nvPicPr>
        <p:blipFill>
          <a:blip r:embed="rId3"/>
          <a:stretch>
            <a:fillRect/>
          </a:stretch>
        </p:blipFill>
        <p:spPr>
          <a:xfrm>
            <a:off x="745569" y="2809042"/>
            <a:ext cx="465892" cy="465892"/>
          </a:xfrm>
          <a:prstGeom prst="rect">
            <a:avLst/>
          </a:prstGeom>
        </p:spPr>
      </p:pic>
      <p:sp>
        <p:nvSpPr>
          <p:cNvPr id="6" name="Text 3"/>
          <p:cNvSpPr/>
          <p:nvPr/>
        </p:nvSpPr>
        <p:spPr>
          <a:xfrm>
            <a:off x="745569" y="3507819"/>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Healthcare</a:t>
            </a:r>
            <a:endParaRPr lang="en-US" sz="1800" dirty="0"/>
          </a:p>
        </p:txBody>
      </p:sp>
      <p:sp>
        <p:nvSpPr>
          <p:cNvPr id="7" name="Text 4"/>
          <p:cNvSpPr/>
          <p:nvPr/>
        </p:nvSpPr>
        <p:spPr>
          <a:xfrm>
            <a:off x="745569" y="3910846"/>
            <a:ext cx="6453187" cy="894755"/>
          </a:xfrm>
          <a:prstGeom prst="rect">
            <a:avLst/>
          </a:prstGeom>
          <a:noFill/>
          <a:ln/>
        </p:spPr>
        <p:txBody>
          <a:bodyPr wrap="square" lIns="0" tIns="0" rIns="0" bIns="0" rtlCol="0" anchor="t"/>
          <a:lstStyle/>
          <a:p>
            <a:pPr marL="0" indent="0" algn="l">
              <a:lnSpc>
                <a:spcPts val="2300"/>
              </a:lnSpc>
              <a:buNone/>
            </a:pPr>
            <a:r>
              <a:rPr lang="en-US" sz="1450" dirty="0">
                <a:solidFill>
                  <a:srgbClr val="DAD1E6"/>
                </a:solidFill>
                <a:latin typeface="Fira Sans" pitchFamily="34" charset="0"/>
                <a:ea typeface="Fira Sans" pitchFamily="34" charset="-122"/>
                <a:cs typeface="Fira Sans" pitchFamily="34" charset="-120"/>
              </a:rPr>
              <a:t>Automated stress monitoring for patients, early detection of emotional distress, and support for mental health interventions, allowing for proactive care in clinical and remote settings.</a:t>
            </a:r>
            <a:endParaRPr lang="en-US" sz="1450" dirty="0"/>
          </a:p>
        </p:txBody>
      </p:sp>
      <p:pic>
        <p:nvPicPr>
          <p:cNvPr id="8" name="Image 1" descr="preencoded.png"/>
          <p:cNvPicPr>
            <a:picLocks noChangeAspect="1"/>
          </p:cNvPicPr>
          <p:nvPr/>
        </p:nvPicPr>
        <p:blipFill>
          <a:blip r:embed="rId4"/>
          <a:stretch>
            <a:fillRect/>
          </a:stretch>
        </p:blipFill>
        <p:spPr>
          <a:xfrm>
            <a:off x="7431643" y="2809042"/>
            <a:ext cx="465892" cy="465892"/>
          </a:xfrm>
          <a:prstGeom prst="rect">
            <a:avLst/>
          </a:prstGeom>
        </p:spPr>
      </p:pic>
      <p:sp>
        <p:nvSpPr>
          <p:cNvPr id="9" name="Text 5"/>
          <p:cNvSpPr/>
          <p:nvPr/>
        </p:nvSpPr>
        <p:spPr>
          <a:xfrm>
            <a:off x="7431643" y="3507819"/>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Education</a:t>
            </a:r>
            <a:endParaRPr lang="en-US" sz="1800" dirty="0"/>
          </a:p>
        </p:txBody>
      </p:sp>
      <p:sp>
        <p:nvSpPr>
          <p:cNvPr id="10" name="Text 6"/>
          <p:cNvSpPr/>
          <p:nvPr/>
        </p:nvSpPr>
        <p:spPr>
          <a:xfrm>
            <a:off x="7431643" y="3910846"/>
            <a:ext cx="6453187" cy="1193006"/>
          </a:xfrm>
          <a:prstGeom prst="rect">
            <a:avLst/>
          </a:prstGeom>
          <a:noFill/>
          <a:ln/>
        </p:spPr>
        <p:txBody>
          <a:bodyPr wrap="square" lIns="0" tIns="0" rIns="0" bIns="0" rtlCol="0" anchor="t"/>
          <a:lstStyle/>
          <a:p>
            <a:pPr marL="0" indent="0" algn="l">
              <a:lnSpc>
                <a:spcPts val="2300"/>
              </a:lnSpc>
              <a:buNone/>
            </a:pPr>
            <a:r>
              <a:rPr lang="en-US" sz="1450" dirty="0">
                <a:solidFill>
                  <a:srgbClr val="DAD1E6"/>
                </a:solidFill>
                <a:latin typeface="Fira Sans" pitchFamily="34" charset="0"/>
                <a:ea typeface="Fira Sans" pitchFamily="34" charset="-122"/>
                <a:cs typeface="Fira Sans" pitchFamily="34" charset="-120"/>
              </a:rPr>
              <a:t>Development of adaptive learning systems that respond to student engagement and frustration, personalizing content delivery and improving educational outcomes. This can lead to more effective and empathetic teaching environments.</a:t>
            </a:r>
            <a:endParaRPr lang="en-US" sz="1450" dirty="0"/>
          </a:p>
        </p:txBody>
      </p:sp>
      <p:pic>
        <p:nvPicPr>
          <p:cNvPr id="11" name="Image 2" descr="preencoded.png"/>
          <p:cNvPicPr>
            <a:picLocks noChangeAspect="1"/>
          </p:cNvPicPr>
          <p:nvPr/>
        </p:nvPicPr>
        <p:blipFill>
          <a:blip r:embed="rId5"/>
          <a:stretch>
            <a:fillRect/>
          </a:stretch>
        </p:blipFill>
        <p:spPr>
          <a:xfrm>
            <a:off x="745569" y="5569744"/>
            <a:ext cx="465892" cy="465892"/>
          </a:xfrm>
          <a:prstGeom prst="rect">
            <a:avLst/>
          </a:prstGeom>
        </p:spPr>
      </p:pic>
      <p:sp>
        <p:nvSpPr>
          <p:cNvPr id="12" name="Text 7"/>
          <p:cNvSpPr/>
          <p:nvPr/>
        </p:nvSpPr>
        <p:spPr>
          <a:xfrm>
            <a:off x="745569" y="6268522"/>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Customer Service</a:t>
            </a:r>
            <a:endParaRPr lang="en-US" sz="1800" dirty="0"/>
          </a:p>
        </p:txBody>
      </p:sp>
      <p:sp>
        <p:nvSpPr>
          <p:cNvPr id="13" name="Text 8"/>
          <p:cNvSpPr/>
          <p:nvPr/>
        </p:nvSpPr>
        <p:spPr>
          <a:xfrm>
            <a:off x="745569" y="6671548"/>
            <a:ext cx="6453187" cy="894755"/>
          </a:xfrm>
          <a:prstGeom prst="rect">
            <a:avLst/>
          </a:prstGeom>
          <a:noFill/>
          <a:ln/>
        </p:spPr>
        <p:txBody>
          <a:bodyPr wrap="square" lIns="0" tIns="0" rIns="0" bIns="0" rtlCol="0" anchor="t"/>
          <a:lstStyle/>
          <a:p>
            <a:pPr marL="0" indent="0" algn="l">
              <a:lnSpc>
                <a:spcPts val="2300"/>
              </a:lnSpc>
              <a:buNone/>
            </a:pPr>
            <a:r>
              <a:rPr lang="en-US" sz="1450" dirty="0">
                <a:solidFill>
                  <a:srgbClr val="DAD1E6"/>
                </a:solidFill>
                <a:latin typeface="Fira Sans" pitchFamily="34" charset="0"/>
                <a:ea typeface="Fira Sans" pitchFamily="34" charset="-122"/>
                <a:cs typeface="Fira Sans" pitchFamily="34" charset="-120"/>
              </a:rPr>
              <a:t>Deployment of emotion-aware chatbots and virtual agents that can detect customer sentiment, allowing for more empathetic and effective interactions, leading to higher customer satisfaction and loyalty.</a:t>
            </a:r>
            <a:endParaRPr lang="en-US" sz="1450" dirty="0"/>
          </a:p>
        </p:txBody>
      </p:sp>
      <p:pic>
        <p:nvPicPr>
          <p:cNvPr id="14" name="Image 3" descr="preencoded.png"/>
          <p:cNvPicPr>
            <a:picLocks noChangeAspect="1"/>
          </p:cNvPicPr>
          <p:nvPr/>
        </p:nvPicPr>
        <p:blipFill>
          <a:blip r:embed="rId6"/>
          <a:stretch>
            <a:fillRect/>
          </a:stretch>
        </p:blipFill>
        <p:spPr>
          <a:xfrm>
            <a:off x="7431643" y="5569744"/>
            <a:ext cx="465892" cy="465892"/>
          </a:xfrm>
          <a:prstGeom prst="rect">
            <a:avLst/>
          </a:prstGeom>
        </p:spPr>
      </p:pic>
      <p:sp>
        <p:nvSpPr>
          <p:cNvPr id="15" name="Text 9"/>
          <p:cNvSpPr/>
          <p:nvPr/>
        </p:nvSpPr>
        <p:spPr>
          <a:xfrm>
            <a:off x="7431643" y="6268522"/>
            <a:ext cx="2329815" cy="291227"/>
          </a:xfrm>
          <a:prstGeom prst="rect">
            <a:avLst/>
          </a:prstGeom>
          <a:noFill/>
          <a:ln/>
        </p:spPr>
        <p:txBody>
          <a:bodyPr wrap="none" lIns="0" tIns="0" rIns="0" bIns="0" rtlCol="0" anchor="t"/>
          <a:lstStyle/>
          <a:p>
            <a:pPr marL="0" indent="0" algn="l">
              <a:lnSpc>
                <a:spcPts val="2250"/>
              </a:lnSpc>
              <a:buNone/>
            </a:pPr>
            <a:r>
              <a:rPr lang="en-US" sz="1800" b="1" dirty="0">
                <a:solidFill>
                  <a:srgbClr val="DAD1E6"/>
                </a:solidFill>
                <a:latin typeface="Inconsolata Bold" pitchFamily="34" charset="0"/>
                <a:ea typeface="Inconsolata Bold" pitchFamily="34" charset="-122"/>
                <a:cs typeface="Inconsolata Bold" pitchFamily="34" charset="-120"/>
              </a:rPr>
              <a:t>Automotive</a:t>
            </a:r>
            <a:endParaRPr lang="en-US" sz="1800" dirty="0"/>
          </a:p>
        </p:txBody>
      </p:sp>
      <p:sp>
        <p:nvSpPr>
          <p:cNvPr id="16" name="Text 10"/>
          <p:cNvSpPr/>
          <p:nvPr/>
        </p:nvSpPr>
        <p:spPr>
          <a:xfrm>
            <a:off x="7431643" y="6671548"/>
            <a:ext cx="6453187" cy="894755"/>
          </a:xfrm>
          <a:prstGeom prst="rect">
            <a:avLst/>
          </a:prstGeom>
          <a:noFill/>
          <a:ln/>
        </p:spPr>
        <p:txBody>
          <a:bodyPr wrap="square" lIns="0" tIns="0" rIns="0" bIns="0" rtlCol="0" anchor="t"/>
          <a:lstStyle/>
          <a:p>
            <a:pPr marL="0" indent="0" algn="l">
              <a:lnSpc>
                <a:spcPts val="2300"/>
              </a:lnSpc>
              <a:buNone/>
            </a:pPr>
            <a:r>
              <a:rPr lang="en-US" sz="1450" dirty="0">
                <a:solidFill>
                  <a:srgbClr val="DAD1E6"/>
                </a:solidFill>
                <a:latin typeface="Fira Sans" pitchFamily="34" charset="0"/>
                <a:ea typeface="Fira Sans" pitchFamily="34" charset="-122"/>
                <a:cs typeface="Fira Sans" pitchFamily="34" charset="-120"/>
              </a:rPr>
              <a:t>Integration into in-car systems for driver state monitoring, detecting fatigue or distraction to enhance road safety and prevent accidents by providing timely alerts.</a:t>
            </a:r>
            <a:endParaRPr lang="en-US" sz="1450" dirty="0"/>
          </a:p>
        </p:txBody>
      </p:sp>
      <p:pic>
        <p:nvPicPr>
          <p:cNvPr id="18" name="Picture 17" descr="A close-up of a logo&#10;&#10;AI-generated content may be incorrect.">
            <a:extLst>
              <a:ext uri="{FF2B5EF4-FFF2-40B4-BE49-F238E27FC236}">
                <a16:creationId xmlns:a16="http://schemas.microsoft.com/office/drawing/2014/main" id="{658B78BE-6751-AFCB-756B-CCC941813624}"/>
              </a:ext>
            </a:extLst>
          </p:cNvPr>
          <p:cNvPicPr>
            <a:picLocks noChangeAspect="1"/>
          </p:cNvPicPr>
          <p:nvPr/>
        </p:nvPicPr>
        <p:blipFill>
          <a:blip r:embed="rId7"/>
          <a:stretch>
            <a:fillRect/>
          </a:stretch>
        </p:blipFill>
        <p:spPr>
          <a:xfrm>
            <a:off x="12872792" y="7391350"/>
            <a:ext cx="1757608" cy="8954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49975"/>
            <a:ext cx="4464129" cy="310158"/>
          </a:xfrm>
          <a:prstGeom prst="rect">
            <a:avLst/>
          </a:prstGeom>
          <a:noFill/>
          <a:ln/>
        </p:spPr>
        <p:txBody>
          <a:bodyPr wrap="none" lIns="0" tIns="0" rIns="0" bIns="0" rtlCol="0" anchor="t"/>
          <a:lstStyle/>
          <a:p>
            <a:pPr marL="0" indent="0" algn="l">
              <a:lnSpc>
                <a:spcPts val="2400"/>
              </a:lnSpc>
              <a:buNone/>
            </a:pPr>
            <a:r>
              <a:rPr lang="en-US" sz="1950" b="1" dirty="0">
                <a:solidFill>
                  <a:srgbClr val="F94CAF"/>
                </a:solidFill>
                <a:latin typeface="Inconsolata Bold" pitchFamily="34" charset="0"/>
                <a:ea typeface="Inconsolata Bold" pitchFamily="34" charset="-122"/>
                <a:cs typeface="Inconsolata Bold" pitchFamily="34" charset="-120"/>
              </a:rPr>
              <a:t>Advancements &amp; Challenges</a:t>
            </a:r>
            <a:endParaRPr lang="en-US" sz="1950" dirty="0"/>
          </a:p>
        </p:txBody>
      </p:sp>
      <p:sp>
        <p:nvSpPr>
          <p:cNvPr id="3" name="Text 1"/>
          <p:cNvSpPr/>
          <p:nvPr/>
        </p:nvSpPr>
        <p:spPr>
          <a:xfrm>
            <a:off x="793790" y="1258491"/>
            <a:ext cx="12651462"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Overcoming Limitations &amp; Charting Future Directions</a:t>
            </a:r>
            <a:endParaRPr lang="en-US" sz="3900" dirty="0"/>
          </a:p>
        </p:txBody>
      </p:sp>
      <p:sp>
        <p:nvSpPr>
          <p:cNvPr id="4" name="Text 2"/>
          <p:cNvSpPr/>
          <p:nvPr/>
        </p:nvSpPr>
        <p:spPr>
          <a:xfrm>
            <a:off x="793790" y="2176224"/>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While current systems demonstrate significant promise, certain limitations exist. Addressing these challenges through advanced research and development will unlock the full potential of emotion detection.</a:t>
            </a:r>
            <a:endParaRPr lang="en-US" sz="1550" dirty="0"/>
          </a:p>
        </p:txBody>
      </p:sp>
      <p:sp>
        <p:nvSpPr>
          <p:cNvPr id="5" name="Text 3"/>
          <p:cNvSpPr/>
          <p:nvPr/>
        </p:nvSpPr>
        <p:spPr>
          <a:xfrm>
            <a:off x="793790" y="3232904"/>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Current Limitations</a:t>
            </a:r>
            <a:endParaRPr lang="en-US" sz="2300" dirty="0"/>
          </a:p>
        </p:txBody>
      </p:sp>
      <p:sp>
        <p:nvSpPr>
          <p:cNvPr id="6" name="Text 4"/>
          <p:cNvSpPr/>
          <p:nvPr/>
        </p:nvSpPr>
        <p:spPr>
          <a:xfrm>
            <a:off x="793790" y="380333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DAD1E6"/>
                </a:solidFill>
                <a:latin typeface="Fira Sans" pitchFamily="34" charset="0"/>
                <a:ea typeface="Fira Sans" pitchFamily="34" charset="-122"/>
                <a:cs typeface="Fira Sans" pitchFamily="34" charset="-120"/>
              </a:rPr>
              <a:t>Performance degradation in low-light conditions.</a:t>
            </a:r>
            <a:endParaRPr lang="en-US" sz="1550" dirty="0"/>
          </a:p>
        </p:txBody>
      </p:sp>
      <p:sp>
        <p:nvSpPr>
          <p:cNvPr id="7" name="Text 5"/>
          <p:cNvSpPr/>
          <p:nvPr/>
        </p:nvSpPr>
        <p:spPr>
          <a:xfrm>
            <a:off x="793790" y="419028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DAD1E6"/>
                </a:solidFill>
                <a:latin typeface="Fira Sans" pitchFamily="34" charset="0"/>
                <a:ea typeface="Fira Sans" pitchFamily="34" charset="-122"/>
                <a:cs typeface="Fira Sans" pitchFamily="34" charset="-120"/>
              </a:rPr>
              <a:t>Challenges with partial facial occlusions (e.g., masks, hands).</a:t>
            </a:r>
            <a:endParaRPr lang="en-US" sz="1550" dirty="0"/>
          </a:p>
        </p:txBody>
      </p:sp>
      <p:sp>
        <p:nvSpPr>
          <p:cNvPr id="8" name="Text 6"/>
          <p:cNvSpPr/>
          <p:nvPr/>
        </p:nvSpPr>
        <p:spPr>
          <a:xfrm>
            <a:off x="793790" y="4577239"/>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DAD1E6"/>
                </a:solidFill>
                <a:latin typeface="Fira Sans" pitchFamily="34" charset="0"/>
                <a:ea typeface="Fira Sans" pitchFamily="34" charset="-122"/>
                <a:cs typeface="Fira Sans" pitchFamily="34" charset="-120"/>
              </a:rPr>
              <a:t>Variability in emotional expression across individuals.</a:t>
            </a:r>
            <a:endParaRPr lang="en-US" sz="1550" dirty="0"/>
          </a:p>
        </p:txBody>
      </p:sp>
      <p:sp>
        <p:nvSpPr>
          <p:cNvPr id="9" name="Text 7"/>
          <p:cNvSpPr/>
          <p:nvPr/>
        </p:nvSpPr>
        <p:spPr>
          <a:xfrm>
            <a:off x="793790" y="4964192"/>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DAD1E6"/>
                </a:solidFill>
                <a:latin typeface="Fira Sans" pitchFamily="34" charset="0"/>
                <a:ea typeface="Fira Sans" pitchFamily="34" charset="-122"/>
                <a:cs typeface="Fira Sans" pitchFamily="34" charset="-120"/>
              </a:rPr>
              <a:t>Difficulty in distinguishing genuine emotions from posed expressions.</a:t>
            </a:r>
            <a:endParaRPr lang="en-US" sz="1550" dirty="0"/>
          </a:p>
        </p:txBody>
      </p:sp>
      <p:sp>
        <p:nvSpPr>
          <p:cNvPr id="10" name="Text 8"/>
          <p:cNvSpPr/>
          <p:nvPr/>
        </p:nvSpPr>
        <p:spPr>
          <a:xfrm>
            <a:off x="7564874" y="3232904"/>
            <a:ext cx="3867983" cy="372070"/>
          </a:xfrm>
          <a:prstGeom prst="rect">
            <a:avLst/>
          </a:prstGeom>
          <a:noFill/>
          <a:ln/>
        </p:spPr>
        <p:txBody>
          <a:bodyPr wrap="none" lIns="0" tIns="0" rIns="0" bIns="0" rtlCol="0" anchor="t"/>
          <a:lstStyle/>
          <a:p>
            <a:pPr marL="0" indent="0" algn="l">
              <a:lnSpc>
                <a:spcPts val="2900"/>
              </a:lnSpc>
              <a:buNone/>
            </a:pPr>
            <a:r>
              <a:rPr lang="en-US" sz="2300" b="1" dirty="0">
                <a:solidFill>
                  <a:srgbClr val="F94CAF"/>
                </a:solidFill>
                <a:latin typeface="Inconsolata Bold" pitchFamily="34" charset="0"/>
                <a:ea typeface="Inconsolata Bold" pitchFamily="34" charset="-122"/>
                <a:cs typeface="Inconsolata Bold" pitchFamily="34" charset="-120"/>
              </a:rPr>
              <a:t>Future Scope &amp; Innovations</a:t>
            </a:r>
            <a:endParaRPr lang="en-US" sz="2300" dirty="0"/>
          </a:p>
        </p:txBody>
      </p:sp>
      <p:sp>
        <p:nvSpPr>
          <p:cNvPr id="11" name="Text 9"/>
          <p:cNvSpPr/>
          <p:nvPr/>
        </p:nvSpPr>
        <p:spPr>
          <a:xfrm>
            <a:off x="7564874" y="3803333"/>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Audio-Text Fusion:</a:t>
            </a:r>
            <a:r>
              <a:rPr lang="en-US" sz="1550" dirty="0">
                <a:solidFill>
                  <a:srgbClr val="DAD1E6"/>
                </a:solidFill>
                <a:latin typeface="Fira Sans" pitchFamily="34" charset="0"/>
                <a:ea typeface="Fira Sans" pitchFamily="34" charset="-122"/>
                <a:cs typeface="Fira Sans" pitchFamily="34" charset="-120"/>
              </a:rPr>
              <a:t> Integrating vocal cues and linguistic analysis for enhanced accuracy.</a:t>
            </a:r>
            <a:endParaRPr lang="en-US" sz="1550" dirty="0"/>
          </a:p>
        </p:txBody>
      </p:sp>
      <p:sp>
        <p:nvSpPr>
          <p:cNvPr id="12" name="Text 10"/>
          <p:cNvSpPr/>
          <p:nvPr/>
        </p:nvSpPr>
        <p:spPr>
          <a:xfrm>
            <a:off x="7564874" y="4507825"/>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Transformer Models:</a:t>
            </a:r>
            <a:r>
              <a:rPr lang="en-US" sz="1550" dirty="0">
                <a:solidFill>
                  <a:srgbClr val="DAD1E6"/>
                </a:solidFill>
                <a:latin typeface="Fira Sans" pitchFamily="34" charset="0"/>
                <a:ea typeface="Fira Sans" pitchFamily="34" charset="-122"/>
                <a:cs typeface="Fira Sans" pitchFamily="34" charset="-120"/>
              </a:rPr>
              <a:t> Leveraging self-attention mechanisms for deeper contextual understanding of emotional signals.</a:t>
            </a:r>
            <a:endParaRPr lang="en-US" sz="1550" dirty="0"/>
          </a:p>
        </p:txBody>
      </p:sp>
      <p:sp>
        <p:nvSpPr>
          <p:cNvPr id="13" name="Text 11"/>
          <p:cNvSpPr/>
          <p:nvPr/>
        </p:nvSpPr>
        <p:spPr>
          <a:xfrm>
            <a:off x="7564874" y="5212318"/>
            <a:ext cx="6279356" cy="95261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Cultural Datasets:</a:t>
            </a:r>
            <a:r>
              <a:rPr lang="en-US" sz="1550" dirty="0">
                <a:solidFill>
                  <a:srgbClr val="DAD1E6"/>
                </a:solidFill>
                <a:latin typeface="Fira Sans" pitchFamily="34" charset="0"/>
                <a:ea typeface="Fira Sans" pitchFamily="34" charset="-122"/>
                <a:cs typeface="Fira Sans" pitchFamily="34" charset="-120"/>
              </a:rPr>
              <a:t> Developing more diverse and culturally representative training data to improve global applicability and reduce bias.</a:t>
            </a:r>
            <a:endParaRPr lang="en-US" sz="1550" dirty="0"/>
          </a:p>
        </p:txBody>
      </p:sp>
      <p:sp>
        <p:nvSpPr>
          <p:cNvPr id="14" name="Text 12"/>
          <p:cNvSpPr/>
          <p:nvPr/>
        </p:nvSpPr>
        <p:spPr>
          <a:xfrm>
            <a:off x="7564874" y="6234351"/>
            <a:ext cx="6279356" cy="635079"/>
          </a:xfrm>
          <a:prstGeom prst="rect">
            <a:avLst/>
          </a:prstGeom>
          <a:noFill/>
          <a:ln/>
        </p:spPr>
        <p:txBody>
          <a:bodyPr wrap="square" lIns="0" tIns="0" rIns="0" bIns="0" rtlCol="0" anchor="t"/>
          <a:lstStyle/>
          <a:p>
            <a:pPr marL="342900" indent="-342900" algn="l">
              <a:lnSpc>
                <a:spcPts val="2500"/>
              </a:lnSpc>
              <a:buSzPct val="100000"/>
              <a:buChar char="•"/>
            </a:pPr>
            <a:r>
              <a:rPr lang="en-US" sz="1550" b="1" dirty="0">
                <a:solidFill>
                  <a:srgbClr val="DAD1E6"/>
                </a:solidFill>
                <a:latin typeface="Fira Sans" pitchFamily="34" charset="0"/>
                <a:ea typeface="Fira Sans" pitchFamily="34" charset="-122"/>
                <a:cs typeface="Fira Sans" pitchFamily="34" charset="-120"/>
              </a:rPr>
              <a:t>Edge AI Deployment:</a:t>
            </a:r>
            <a:r>
              <a:rPr lang="en-US" sz="1550" dirty="0">
                <a:solidFill>
                  <a:srgbClr val="DAD1E6"/>
                </a:solidFill>
                <a:latin typeface="Fira Sans" pitchFamily="34" charset="0"/>
                <a:ea typeface="Fira Sans" pitchFamily="34" charset="-122"/>
                <a:cs typeface="Fira Sans" pitchFamily="34" charset="-120"/>
              </a:rPr>
              <a:t> Optimizing models for real-time processing on devices with limited computational resources.</a:t>
            </a:r>
            <a:endParaRPr lang="en-US" sz="1550" dirty="0"/>
          </a:p>
        </p:txBody>
      </p:sp>
      <p:sp>
        <p:nvSpPr>
          <p:cNvPr id="15" name="Text 13"/>
          <p:cNvSpPr/>
          <p:nvPr/>
        </p:nvSpPr>
        <p:spPr>
          <a:xfrm>
            <a:off x="793790" y="7162086"/>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These advancements will refine the precision and reliability of emotion detection, making it more robust and universally applicable.</a:t>
            </a:r>
            <a:endParaRPr lang="en-US" sz="1550" dirty="0"/>
          </a:p>
        </p:txBody>
      </p:sp>
      <p:pic>
        <p:nvPicPr>
          <p:cNvPr id="17" name="Picture 16" descr="A close-up of a logo&#10;&#10;AI-generated content may be incorrect.">
            <a:extLst>
              <a:ext uri="{FF2B5EF4-FFF2-40B4-BE49-F238E27FC236}">
                <a16:creationId xmlns:a16="http://schemas.microsoft.com/office/drawing/2014/main" id="{87D0EBE1-4903-8967-0B06-8DD6813BF703}"/>
              </a:ext>
            </a:extLst>
          </p:cNvPr>
          <p:cNvPicPr>
            <a:picLocks noChangeAspect="1"/>
          </p:cNvPicPr>
          <p:nvPr/>
        </p:nvPicPr>
        <p:blipFill>
          <a:blip r:embed="rId3"/>
          <a:stretch>
            <a:fillRect/>
          </a:stretch>
        </p:blipFill>
        <p:spPr>
          <a:xfrm>
            <a:off x="12630736" y="7370336"/>
            <a:ext cx="1999664" cy="10187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518285"/>
            <a:ext cx="8930521" cy="620078"/>
          </a:xfrm>
          <a:prstGeom prst="rect">
            <a:avLst/>
          </a:prstGeom>
          <a:noFill/>
          <a:ln/>
        </p:spPr>
        <p:txBody>
          <a:bodyPr wrap="none" lIns="0" tIns="0" rIns="0" bIns="0" rtlCol="0" anchor="t"/>
          <a:lstStyle/>
          <a:p>
            <a:pPr marL="0" indent="0" algn="l">
              <a:lnSpc>
                <a:spcPts val="4850"/>
              </a:lnSpc>
              <a:buNone/>
            </a:pPr>
            <a:r>
              <a:rPr lang="en-US" sz="3900" b="1" dirty="0">
                <a:solidFill>
                  <a:srgbClr val="F94CAF"/>
                </a:solidFill>
                <a:latin typeface="Inconsolata Bold" pitchFamily="34" charset="0"/>
                <a:ea typeface="Inconsolata Bold" pitchFamily="34" charset="-122"/>
                <a:cs typeface="Inconsolata Bold" pitchFamily="34" charset="-120"/>
              </a:rPr>
              <a:t>Conclusion: The Future of Emotion AI</a:t>
            </a:r>
            <a:endParaRPr lang="en-US" sz="3900" dirty="0"/>
          </a:p>
        </p:txBody>
      </p:sp>
      <p:sp>
        <p:nvSpPr>
          <p:cNvPr id="3" name="Text 1"/>
          <p:cNvSpPr/>
          <p:nvPr/>
        </p:nvSpPr>
        <p:spPr>
          <a:xfrm>
            <a:off x="793790" y="2535198"/>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Our exploration into real-time emotion detection highlights its robust capabilities and immense potential. The current system, leveraging CNNs with OpenCV and Twilio, delivers high accuracy and low latency, making practical applications feasible today.</a:t>
            </a:r>
            <a:endParaRPr lang="en-US" sz="1550" dirty="0"/>
          </a:p>
        </p:txBody>
      </p:sp>
      <p:sp>
        <p:nvSpPr>
          <p:cNvPr id="4" name="Shape 2"/>
          <p:cNvSpPr/>
          <p:nvPr/>
        </p:nvSpPr>
        <p:spPr>
          <a:xfrm>
            <a:off x="793790" y="3393519"/>
            <a:ext cx="4215289" cy="2459355"/>
          </a:xfrm>
          <a:prstGeom prst="roundRect">
            <a:avLst>
              <a:gd name="adj" fmla="val 4462"/>
            </a:avLst>
          </a:prstGeom>
          <a:solidFill>
            <a:srgbClr val="241631"/>
          </a:solidFill>
          <a:ln w="22860">
            <a:solidFill>
              <a:srgbClr val="5C4E69"/>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770930" y="3393519"/>
            <a:ext cx="91440" cy="2459355"/>
          </a:xfrm>
          <a:prstGeom prst="rect">
            <a:avLst/>
          </a:prstGeom>
        </p:spPr>
      </p:pic>
      <p:sp>
        <p:nvSpPr>
          <p:cNvPr id="6" name="Text 3"/>
          <p:cNvSpPr/>
          <p:nvPr/>
        </p:nvSpPr>
        <p:spPr>
          <a:xfrm>
            <a:off x="1083588" y="361473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Proven Efficacy</a:t>
            </a:r>
            <a:endParaRPr lang="en-US" sz="1950" dirty="0"/>
          </a:p>
        </p:txBody>
      </p:sp>
      <p:sp>
        <p:nvSpPr>
          <p:cNvPr id="7" name="Text 4"/>
          <p:cNvSpPr/>
          <p:nvPr/>
        </p:nvSpPr>
        <p:spPr>
          <a:xfrm>
            <a:off x="1083588" y="4043958"/>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Real-time emotion detection is not just a concept; it's a reality, offering reliable results for immediate application.</a:t>
            </a:r>
            <a:endParaRPr lang="en-US" sz="1550" dirty="0"/>
          </a:p>
        </p:txBody>
      </p:sp>
      <p:sp>
        <p:nvSpPr>
          <p:cNvPr id="8" name="Shape 5"/>
          <p:cNvSpPr/>
          <p:nvPr/>
        </p:nvSpPr>
        <p:spPr>
          <a:xfrm>
            <a:off x="5207437" y="3393519"/>
            <a:ext cx="4215408" cy="2459355"/>
          </a:xfrm>
          <a:prstGeom prst="roundRect">
            <a:avLst>
              <a:gd name="adj" fmla="val 4462"/>
            </a:avLst>
          </a:prstGeom>
          <a:solidFill>
            <a:srgbClr val="241631"/>
          </a:solidFill>
          <a:ln w="22860">
            <a:solidFill>
              <a:srgbClr val="5C4E69"/>
            </a:solidFill>
            <a:prstDash val="solid"/>
          </a:ln>
        </p:spPr>
        <p:txBody>
          <a:bodyPr/>
          <a:lstStyle/>
          <a:p>
            <a:endParaRPr lang="en-IN"/>
          </a:p>
        </p:txBody>
      </p:sp>
      <p:pic>
        <p:nvPicPr>
          <p:cNvPr id="9" name="Image 1" descr="preencoded.png"/>
          <p:cNvPicPr>
            <a:picLocks noChangeAspect="1"/>
          </p:cNvPicPr>
          <p:nvPr/>
        </p:nvPicPr>
        <p:blipFill>
          <a:blip r:embed="rId3"/>
          <a:stretch>
            <a:fillRect/>
          </a:stretch>
        </p:blipFill>
        <p:spPr>
          <a:xfrm>
            <a:off x="5184577" y="3393519"/>
            <a:ext cx="91440" cy="2459355"/>
          </a:xfrm>
          <a:prstGeom prst="rect">
            <a:avLst/>
          </a:prstGeom>
        </p:spPr>
      </p:pic>
      <p:sp>
        <p:nvSpPr>
          <p:cNvPr id="10" name="Text 6"/>
          <p:cNvSpPr/>
          <p:nvPr/>
        </p:nvSpPr>
        <p:spPr>
          <a:xfrm>
            <a:off x="5497235" y="3614738"/>
            <a:ext cx="2852142"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Scalability &amp; Evolution</a:t>
            </a:r>
            <a:endParaRPr lang="en-US" sz="1950" dirty="0"/>
          </a:p>
        </p:txBody>
      </p:sp>
      <p:sp>
        <p:nvSpPr>
          <p:cNvPr id="11" name="Text 7"/>
          <p:cNvSpPr/>
          <p:nvPr/>
        </p:nvSpPr>
        <p:spPr>
          <a:xfrm>
            <a:off x="5497235" y="4043958"/>
            <a:ext cx="3704392" cy="158769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The core architecture is designed for future enhancements, allowing for continuous improvement in accuracy and adaptability as new data and technologies emerge.</a:t>
            </a:r>
            <a:endParaRPr lang="en-US" sz="1550" dirty="0"/>
          </a:p>
        </p:txBody>
      </p:sp>
      <p:sp>
        <p:nvSpPr>
          <p:cNvPr id="12" name="Shape 8"/>
          <p:cNvSpPr/>
          <p:nvPr/>
        </p:nvSpPr>
        <p:spPr>
          <a:xfrm>
            <a:off x="9621203" y="3393519"/>
            <a:ext cx="4215289" cy="2459355"/>
          </a:xfrm>
          <a:prstGeom prst="roundRect">
            <a:avLst>
              <a:gd name="adj" fmla="val 4462"/>
            </a:avLst>
          </a:prstGeom>
          <a:solidFill>
            <a:srgbClr val="241631"/>
          </a:solidFill>
          <a:ln w="22860">
            <a:solidFill>
              <a:srgbClr val="5C4E69"/>
            </a:solidFill>
            <a:prstDash val="solid"/>
          </a:ln>
        </p:spPr>
        <p:txBody>
          <a:bodyPr/>
          <a:lstStyle/>
          <a:p>
            <a:endParaRPr lang="en-IN"/>
          </a:p>
        </p:txBody>
      </p:sp>
      <p:pic>
        <p:nvPicPr>
          <p:cNvPr id="13" name="Image 2" descr="preencoded.png"/>
          <p:cNvPicPr>
            <a:picLocks noChangeAspect="1"/>
          </p:cNvPicPr>
          <p:nvPr/>
        </p:nvPicPr>
        <p:blipFill>
          <a:blip r:embed="rId3"/>
          <a:stretch>
            <a:fillRect/>
          </a:stretch>
        </p:blipFill>
        <p:spPr>
          <a:xfrm>
            <a:off x="9598343" y="3393519"/>
            <a:ext cx="91440" cy="2459355"/>
          </a:xfrm>
          <a:prstGeom prst="rect">
            <a:avLst/>
          </a:prstGeom>
        </p:spPr>
      </p:pic>
      <p:sp>
        <p:nvSpPr>
          <p:cNvPr id="14" name="Text 9"/>
          <p:cNvSpPr/>
          <p:nvPr/>
        </p:nvSpPr>
        <p:spPr>
          <a:xfrm>
            <a:off x="9911001" y="361473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DAD1E6"/>
                </a:solidFill>
                <a:latin typeface="Inconsolata Bold" pitchFamily="34" charset="0"/>
                <a:ea typeface="Inconsolata Bold" pitchFamily="34" charset="-122"/>
                <a:cs typeface="Inconsolata Bold" pitchFamily="34" charset="-120"/>
              </a:rPr>
              <a:t>Broad Impact</a:t>
            </a:r>
            <a:endParaRPr lang="en-US" sz="1950" dirty="0"/>
          </a:p>
        </p:txBody>
      </p:sp>
      <p:sp>
        <p:nvSpPr>
          <p:cNvPr id="15" name="Text 10"/>
          <p:cNvSpPr/>
          <p:nvPr/>
        </p:nvSpPr>
        <p:spPr>
          <a:xfrm>
            <a:off x="9911001" y="4043958"/>
            <a:ext cx="3704273" cy="1587698"/>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From healthcare to customer service, emotion AI is poised to revolutionize interactions and deliver more personalized, empathetic experiences across various domains.</a:t>
            </a:r>
            <a:endParaRPr lang="en-US" sz="1550" dirty="0"/>
          </a:p>
        </p:txBody>
      </p:sp>
      <p:sp>
        <p:nvSpPr>
          <p:cNvPr id="16" name="Text 11"/>
          <p:cNvSpPr/>
          <p:nvPr/>
        </p:nvSpPr>
        <p:spPr>
          <a:xfrm>
            <a:off x="793790" y="607611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AD1E6"/>
                </a:solidFill>
                <a:latin typeface="Fira Sans" pitchFamily="34" charset="0"/>
                <a:ea typeface="Fira Sans" pitchFamily="34" charset="-122"/>
                <a:cs typeface="Fira Sans" pitchFamily="34" charset="-120"/>
              </a:rPr>
              <a:t>The journey ahead involves refining current models, exploring multimodal fusion, and expanding data diversity to unlock new frontiers in understanding and responding to human emotion.</a:t>
            </a:r>
            <a:endParaRPr lang="en-US" sz="1550" dirty="0"/>
          </a:p>
        </p:txBody>
      </p:sp>
      <p:pic>
        <p:nvPicPr>
          <p:cNvPr id="18" name="Picture 17" descr="A close-up of a logo&#10;&#10;AI-generated content may be incorrect.">
            <a:extLst>
              <a:ext uri="{FF2B5EF4-FFF2-40B4-BE49-F238E27FC236}">
                <a16:creationId xmlns:a16="http://schemas.microsoft.com/office/drawing/2014/main" id="{3D986D94-4C40-6A73-1C01-7011AB69B320}"/>
              </a:ext>
            </a:extLst>
          </p:cNvPr>
          <p:cNvPicPr>
            <a:picLocks noChangeAspect="1"/>
          </p:cNvPicPr>
          <p:nvPr/>
        </p:nvPicPr>
        <p:blipFill>
          <a:blip r:embed="rId4"/>
          <a:stretch>
            <a:fillRect/>
          </a:stretch>
        </p:blipFill>
        <p:spPr>
          <a:xfrm>
            <a:off x="12597063" y="7193644"/>
            <a:ext cx="2033337" cy="10359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1558</Words>
  <Application>Microsoft Office PowerPoint</Application>
  <PresentationFormat>Custom</PresentationFormat>
  <Paragraphs>149</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Fira Sans</vt:lpstr>
      <vt:lpstr>Inconsolata</vt:lpstr>
      <vt:lpstr>Inconsolata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ashutosh dora</cp:lastModifiedBy>
  <cp:revision>1</cp:revision>
  <dcterms:modified xsi:type="dcterms:W3CDTF">2025-09-15T13:03:10Z</dcterms:modified>
</cp:coreProperties>
</file>